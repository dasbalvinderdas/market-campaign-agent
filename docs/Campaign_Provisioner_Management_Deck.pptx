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Google BigQuery holds all data (inventory, vendor prices, budget ledger, approval policy, approver emails, audit log). Google Application Integration runs the two workflow actions: create_purchase_order and notify_approver (sends the approval email). The human Confirm / Reject happens in the chat; purchase orders are blocked in code without an approved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and approver emails are stored in BigQuery. Routine spend is approved by policy, while higher tiers are emailed to the approver through Application Integration and pause for a named human Confirm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Approver (HITL)</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2697480" y="960120"/>
            <a:ext cx="6766560" cy="5074920"/>
          </a:xfrm>
          <a:prstGeom prst="rect">
            <a:avLst/>
          </a:prstGeom>
          <a:solidFill>
            <a:srgbClr val="FFFFFF"/>
          </a:solidFill>
          <a:ln w="15875">
            <a:solidFill>
              <a:srgbClr val="2563EB"/>
            </a:solidFill>
            <a:prstDash val="solid"/>
          </a:ln>
        </p:spPr>
      </p:sp>
      <p:sp>
        <p:nvSpPr>
          <p:cNvPr id="17" name="Text 15"/>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Agent Runtime )</a:t>
            </a:r>
            <a:endParaRPr lang="en-US" sz="1000" dirty="0"/>
          </a:p>
        </p:txBody>
      </p:sp>
      <p:sp>
        <p:nvSpPr>
          <p:cNvPr id="18" name="Shape 16"/>
          <p:cNvSpPr/>
          <p:nvPr/>
        </p:nvSpPr>
        <p:spPr>
          <a:xfrm>
            <a:off x="2834640" y="1325880"/>
            <a:ext cx="6492240" cy="1097280"/>
          </a:xfrm>
          <a:prstGeom prst="rect">
            <a:avLst/>
          </a:prstGeom>
          <a:solidFill>
            <a:srgbClr val="EFF4FF"/>
          </a:solidFill>
          <a:ln w="12700">
            <a:solidFill>
              <a:srgbClr val="93A8D8"/>
            </a:solidFill>
            <a:prstDash val="solid"/>
          </a:ln>
        </p:spPr>
      </p:sp>
      <p:sp>
        <p:nvSpPr>
          <p:cNvPr id="19" name="Shape 17"/>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0" name="Text 18"/>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1" name="Text 19"/>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22" name="Shape 20"/>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23" name="Text 21"/>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  Result Aggregation</a:t>
            </a:r>
            <a:endParaRPr lang="en-US" sz="850" dirty="0"/>
          </a:p>
        </p:txBody>
      </p:sp>
      <p:sp>
        <p:nvSpPr>
          <p:cNvPr id="24" name="Shape 22"/>
          <p:cNvSpPr/>
          <p:nvPr/>
        </p:nvSpPr>
        <p:spPr>
          <a:xfrm>
            <a:off x="2834640" y="2560320"/>
            <a:ext cx="6492240" cy="1874520"/>
          </a:xfrm>
          <a:prstGeom prst="rect">
            <a:avLst/>
          </a:prstGeom>
          <a:solidFill>
            <a:srgbClr val="E8F0FF"/>
          </a:solidFill>
          <a:ln w="12700">
            <a:solidFill>
              <a:srgbClr val="93A8D8"/>
            </a:solidFill>
            <a:prstDash val="dash"/>
          </a:ln>
        </p:spPr>
      </p:sp>
      <p:sp>
        <p:nvSpPr>
          <p:cNvPr id="25" name="Shape 23"/>
          <p:cNvSpPr/>
          <p:nvPr/>
        </p:nvSpPr>
        <p:spPr>
          <a:xfrm>
            <a:off x="2880360" y="2496312"/>
            <a:ext cx="914400" cy="201168"/>
          </a:xfrm>
          <a:prstGeom prst="roundRect">
            <a:avLst>
              <a:gd name="adj" fmla="val 22727"/>
            </a:avLst>
          </a:prstGeom>
          <a:solidFill>
            <a:srgbClr val="2563EB"/>
          </a:solidFill>
          <a:ln w="12700">
            <a:solidFill>
              <a:srgbClr val="2563EB"/>
            </a:solidFill>
            <a:prstDash val="solid"/>
          </a:ln>
        </p:spPr>
      </p:sp>
      <p:sp>
        <p:nvSpPr>
          <p:cNvPr id="26" name="Text 24"/>
          <p:cNvSpPr txBox="1"/>
          <p:nvPr/>
        </p:nvSpPr>
        <p:spPr>
          <a:xfrm>
            <a:off x="2880360" y="249631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a:t>
            </a:r>
            <a:endParaRPr lang="en-US" sz="800" dirty="0"/>
          </a:p>
        </p:txBody>
      </p:sp>
      <p:sp>
        <p:nvSpPr>
          <p:cNvPr id="27" name="Shape 25"/>
          <p:cNvSpPr/>
          <p:nvPr/>
        </p:nvSpPr>
        <p:spPr>
          <a:xfrm>
            <a:off x="2926080" y="2788920"/>
            <a:ext cx="2057400" cy="1554480"/>
          </a:xfrm>
          <a:prstGeom prst="rect">
            <a:avLst/>
          </a:prstGeom>
          <a:solidFill>
            <a:srgbClr val="F0F7FF"/>
          </a:solidFill>
          <a:ln w="12700">
            <a:solidFill>
              <a:srgbClr val="93A8D8"/>
            </a:solidFill>
            <a:prstDash val="solid"/>
          </a:ln>
        </p:spPr>
      </p:sp>
      <p:sp>
        <p:nvSpPr>
          <p:cNvPr id="28" name="Text 26"/>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29" name="Text 27"/>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0" name="Shape 28"/>
          <p:cNvSpPr/>
          <p:nvPr/>
        </p:nvSpPr>
        <p:spPr>
          <a:xfrm>
            <a:off x="3017520" y="3310128"/>
            <a:ext cx="1874520" cy="960120"/>
          </a:xfrm>
          <a:prstGeom prst="rect">
            <a:avLst/>
          </a:prstGeom>
          <a:solidFill>
            <a:srgbClr val="FFFFFF"/>
          </a:solidFill>
          <a:ln w="12700">
            <a:solidFill>
              <a:srgbClr val="D6E0F5"/>
            </a:solidFill>
            <a:prstDash val="solid"/>
          </a:ln>
        </p:spPr>
      </p:sp>
      <p:sp>
        <p:nvSpPr>
          <p:cNvPr id="31" name="Text 29"/>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Read stock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units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32" name="Shape 30"/>
          <p:cNvSpPr/>
          <p:nvPr/>
        </p:nvSpPr>
        <p:spPr>
          <a:xfrm>
            <a:off x="5056632" y="2788920"/>
            <a:ext cx="2057400" cy="1554480"/>
          </a:xfrm>
          <a:prstGeom prst="rect">
            <a:avLst/>
          </a:prstGeom>
          <a:solidFill>
            <a:srgbClr val="F3EEFF"/>
          </a:solidFill>
          <a:ln w="12700">
            <a:solidFill>
              <a:srgbClr val="93A8D8"/>
            </a:solidFill>
            <a:prstDash val="solid"/>
          </a:ln>
        </p:spPr>
      </p:sp>
      <p:sp>
        <p:nvSpPr>
          <p:cNvPr id="33" name="Text 31"/>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34" name="Text 32"/>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35" name="Shape 33"/>
          <p:cNvSpPr/>
          <p:nvPr/>
        </p:nvSpPr>
        <p:spPr>
          <a:xfrm>
            <a:off x="5148072" y="3310128"/>
            <a:ext cx="1874520" cy="960120"/>
          </a:xfrm>
          <a:prstGeom prst="rect">
            <a:avLst/>
          </a:prstGeom>
          <a:solidFill>
            <a:srgbClr val="FFFFFF"/>
          </a:solidFill>
          <a:ln w="12700">
            <a:solidFill>
              <a:srgbClr val="D6E0F5"/>
            </a:solidFill>
            <a:prstDash val="solid"/>
          </a:ln>
        </p:spPr>
      </p:sp>
      <p:sp>
        <p:nvSpPr>
          <p:cNvPr id="36" name="Text 34"/>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Fetch quotes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Rank on price &amp;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(App Integration)</a:t>
            </a:r>
            <a:endParaRPr lang="en-US" sz="850" dirty="0"/>
          </a:p>
        </p:txBody>
      </p:sp>
      <p:sp>
        <p:nvSpPr>
          <p:cNvPr id="37" name="Shape 35"/>
          <p:cNvSpPr/>
          <p:nvPr/>
        </p:nvSpPr>
        <p:spPr>
          <a:xfrm>
            <a:off x="7187184" y="2788920"/>
            <a:ext cx="2057400" cy="1554480"/>
          </a:xfrm>
          <a:prstGeom prst="rect">
            <a:avLst/>
          </a:prstGeom>
          <a:solidFill>
            <a:srgbClr val="FFF7ED"/>
          </a:solidFill>
          <a:ln w="12700">
            <a:solidFill>
              <a:srgbClr val="93A8D8"/>
            </a:solidFill>
            <a:prstDash val="solid"/>
          </a:ln>
        </p:spPr>
      </p:sp>
      <p:sp>
        <p:nvSpPr>
          <p:cNvPr id="38" name="Text 36"/>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39" name="Text 37"/>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 &amp; Approve - HITL)</a:t>
            </a:r>
            <a:endParaRPr lang="en-US" sz="800" dirty="0"/>
          </a:p>
        </p:txBody>
      </p:sp>
      <p:sp>
        <p:nvSpPr>
          <p:cNvPr id="40" name="Shape 38"/>
          <p:cNvSpPr/>
          <p:nvPr/>
        </p:nvSpPr>
        <p:spPr>
          <a:xfrm>
            <a:off x="7278624" y="3310128"/>
            <a:ext cx="1874520" cy="960120"/>
          </a:xfrm>
          <a:prstGeom prst="rect">
            <a:avLst/>
          </a:prstGeom>
          <a:solidFill>
            <a:srgbClr val="FFFFFF"/>
          </a:solidFill>
          <a:ln w="12700">
            <a:solidFill>
              <a:srgbClr val="D6E0F5"/>
            </a:solidFill>
            <a:prstDash val="solid"/>
          </a:ln>
        </p:spPr>
      </p:sp>
      <p:sp>
        <p:nvSpPr>
          <p:cNvPr id="41" name="Text 39"/>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Check budget &amp; tier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Email approver (App Integration)</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Human Confirm / Reject in chat</a:t>
            </a:r>
            <a:endParaRPr lang="en-US" sz="850" dirty="0"/>
          </a:p>
        </p:txBody>
      </p:sp>
      <p:sp>
        <p:nvSpPr>
          <p:cNvPr id="42" name="Shape 40"/>
          <p:cNvSpPr/>
          <p:nvPr/>
        </p:nvSpPr>
        <p:spPr>
          <a:xfrm>
            <a:off x="6080760" y="2240280"/>
            <a:ext cx="0" cy="320040"/>
          </a:xfrm>
          <a:prstGeom prst="line">
            <a:avLst/>
          </a:prstGeom>
          <a:noFill/>
          <a:ln w="19050">
            <a:solidFill>
              <a:srgbClr val="2563EB"/>
            </a:solidFill>
            <a:prstDash val="solid"/>
            <a:headEnd type="triangle"/>
            <a:tailEnd type="triangle"/>
          </a:ln>
        </p:spPr>
      </p:sp>
      <p:sp>
        <p:nvSpPr>
          <p:cNvPr id="43" name="Shape 41"/>
          <p:cNvSpPr/>
          <p:nvPr/>
        </p:nvSpPr>
        <p:spPr>
          <a:xfrm>
            <a:off x="2834640" y="4526280"/>
            <a:ext cx="6492240" cy="731520"/>
          </a:xfrm>
          <a:prstGeom prst="rect">
            <a:avLst/>
          </a:prstGeom>
          <a:solidFill>
            <a:srgbClr val="EFF4FF"/>
          </a:solidFill>
          <a:ln w="12700">
            <a:solidFill>
              <a:srgbClr val="93A8D8"/>
            </a:solidFill>
            <a:prstDash val="solid"/>
          </a:ln>
        </p:spPr>
      </p:sp>
      <p:sp>
        <p:nvSpPr>
          <p:cNvPr id="44" name="Text 42"/>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45" name="Shape 43"/>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46" name="Text 44"/>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47" name="Text 45"/>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48" name="Shape 46"/>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49" name="Text 47"/>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Session Working Memory</a:t>
            </a:r>
            <a:endParaRPr lang="en-US" sz="800" dirty="0"/>
          </a:p>
        </p:txBody>
      </p:sp>
      <p:sp>
        <p:nvSpPr>
          <p:cNvPr id="50" name="Text 48"/>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Conversation &amp; pending approvals</a:t>
            </a:r>
            <a:endParaRPr lang="en-US" sz="800" dirty="0"/>
          </a:p>
        </p:txBody>
      </p:sp>
      <p:sp>
        <p:nvSpPr>
          <p:cNvPr id="51" name="Shape 49"/>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52" name="Text 50"/>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53" name="Text 51"/>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54" name="Shape 52"/>
          <p:cNvSpPr/>
          <p:nvPr/>
        </p:nvSpPr>
        <p:spPr>
          <a:xfrm>
            <a:off x="2834640" y="5321808"/>
            <a:ext cx="6492240" cy="640080"/>
          </a:xfrm>
          <a:prstGeom prst="rect">
            <a:avLst/>
          </a:prstGeom>
          <a:solidFill>
            <a:srgbClr val="EFF4FF"/>
          </a:solidFill>
          <a:ln w="12700">
            <a:solidFill>
              <a:srgbClr val="93A8D8"/>
            </a:solidFill>
            <a:prstDash val="solid"/>
          </a:ln>
        </p:spPr>
      </p:sp>
      <p:sp>
        <p:nvSpPr>
          <p:cNvPr id="55" name="Text 53"/>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56" name="Shape 54"/>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58" name="Text 56"/>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59" name="Shape 57"/>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1" name="Text 59"/>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62" name="Shape 60"/>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63" name="Text 61"/>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64" name="Text 62"/>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65" name="Shape 63"/>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66" name="Text 64"/>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67" name="Text 65"/>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68" name="Shape 66"/>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69" name="Text 67"/>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0" name="Text 68"/>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1" name="Shape 69"/>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72" name="Text 70"/>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73" name="Text 71"/>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74" name="Shape 72"/>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75" name="Text 73"/>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ADK Application Integration toolset</a:t>
            </a:r>
            <a:endParaRPr lang="en-US" sz="800" dirty="0"/>
          </a:p>
        </p:txBody>
      </p:sp>
      <p:sp>
        <p:nvSpPr>
          <p:cNvPr id="76" name="Shape 74"/>
          <p:cNvSpPr/>
          <p:nvPr/>
        </p:nvSpPr>
        <p:spPr>
          <a:xfrm>
            <a:off x="9326880" y="3017520"/>
            <a:ext cx="228600" cy="0"/>
          </a:xfrm>
          <a:prstGeom prst="line">
            <a:avLst/>
          </a:prstGeom>
          <a:noFill/>
          <a:ln w="19050">
            <a:solidFill>
              <a:srgbClr val="2563EB"/>
            </a:solidFill>
            <a:prstDash val="solid"/>
            <a:headEnd type="triangle"/>
            <a:tailEnd type="triangle"/>
          </a:ln>
        </p:spPr>
      </p:sp>
      <p:sp>
        <p:nvSpPr>
          <p:cNvPr id="77" name="Shape 75"/>
          <p:cNvSpPr/>
          <p:nvPr/>
        </p:nvSpPr>
        <p:spPr>
          <a:xfrm>
            <a:off x="9966960" y="960120"/>
            <a:ext cx="1920240" cy="1828800"/>
          </a:xfrm>
          <a:prstGeom prst="rect">
            <a:avLst/>
          </a:prstGeom>
          <a:solidFill>
            <a:srgbClr val="EFF4FF"/>
          </a:solidFill>
          <a:ln w="12700">
            <a:solidFill>
              <a:srgbClr val="93A8D8"/>
            </a:solidFill>
            <a:prstDash val="solid"/>
          </a:ln>
        </p:spPr>
      </p:sp>
      <p:sp>
        <p:nvSpPr>
          <p:cNvPr id="78" name="Text 76"/>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(Data)</a:t>
            </a:r>
            <a:endParaRPr lang="en-US" sz="900" dirty="0"/>
          </a:p>
        </p:txBody>
      </p:sp>
      <p:sp>
        <p:nvSpPr>
          <p:cNvPr id="79" name="Shape 77"/>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0" name="Text 78"/>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Stock, Vendors, Budgets</a:t>
            </a:r>
            <a:endParaRPr lang="en-US" sz="800" dirty="0"/>
          </a:p>
        </p:txBody>
      </p:sp>
      <p:sp>
        <p:nvSpPr>
          <p:cNvPr id="81" name="Text 79"/>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Tables + views, read &amp; write</a:t>
            </a:r>
            <a:endParaRPr lang="en-US" sz="800" dirty="0"/>
          </a:p>
        </p:txBody>
      </p:sp>
      <p:sp>
        <p:nvSpPr>
          <p:cNvPr id="82" name="Shape 80"/>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83" name="Text 81"/>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&amp; Audit</a:t>
            </a:r>
            <a:endParaRPr lang="en-US" sz="800" dirty="0"/>
          </a:p>
        </p:txBody>
      </p:sp>
      <p:sp>
        <p:nvSpPr>
          <p:cNvPr id="84" name="Text 82"/>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approver emails, log</a:t>
            </a:r>
            <a:endParaRPr lang="en-US" sz="800" dirty="0"/>
          </a:p>
        </p:txBody>
      </p:sp>
      <p:sp>
        <p:nvSpPr>
          <p:cNvPr id="85" name="Shape 83"/>
          <p:cNvSpPr/>
          <p:nvPr/>
        </p:nvSpPr>
        <p:spPr>
          <a:xfrm>
            <a:off x="9966960" y="292608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87" name="Shape 85"/>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89" name="Text 87"/>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creates the PO</a:t>
            </a:r>
            <a:endParaRPr lang="en-US" sz="800" dirty="0"/>
          </a:p>
        </p:txBody>
      </p:sp>
      <p:sp>
        <p:nvSpPr>
          <p:cNvPr id="90" name="Shape 88"/>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notify_approver</a:t>
            </a:r>
            <a:endParaRPr lang="en-US" sz="800" dirty="0"/>
          </a:p>
        </p:txBody>
      </p:sp>
      <p:sp>
        <p:nvSpPr>
          <p:cNvPr id="92" name="Text 90"/>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emails approver</a:t>
            </a:r>
            <a:endParaRPr lang="en-US" sz="800" dirty="0"/>
          </a:p>
        </p:txBody>
      </p:sp>
      <p:sp>
        <p:nvSpPr>
          <p:cNvPr id="93" name="Shape 91"/>
          <p:cNvSpPr/>
          <p:nvPr/>
        </p:nvSpPr>
        <p:spPr>
          <a:xfrm>
            <a:off x="9966960" y="4892040"/>
            <a:ext cx="1920240" cy="1143000"/>
          </a:xfrm>
          <a:prstGeom prst="rect">
            <a:avLst/>
          </a:prstGeom>
          <a:solidFill>
            <a:srgbClr val="EFF4FF"/>
          </a:solidFill>
          <a:ln w="12700">
            <a:solidFill>
              <a:srgbClr val="93A8D8"/>
            </a:solidFill>
            <a:prstDash val="solid"/>
          </a:ln>
        </p:spPr>
      </p:sp>
      <p:sp>
        <p:nvSpPr>
          <p:cNvPr id="94" name="Text 92"/>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95" name="Shape 93"/>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97" name="Text 95"/>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98" name="Shape 96"/>
          <p:cNvSpPr/>
          <p:nvPr/>
        </p:nvSpPr>
        <p:spPr>
          <a:xfrm>
            <a:off x="9829800" y="1828800"/>
            <a:ext cx="137160" cy="0"/>
          </a:xfrm>
          <a:prstGeom prst="line">
            <a:avLst/>
          </a:prstGeom>
          <a:noFill/>
          <a:ln w="19050">
            <a:solidFill>
              <a:srgbClr val="2563EB"/>
            </a:solidFill>
            <a:prstDash val="solid"/>
            <a:headEnd type="triangle"/>
            <a:tailEnd type="triangle"/>
          </a:ln>
        </p:spPr>
      </p:sp>
      <p:sp>
        <p:nvSpPr>
          <p:cNvPr id="99" name="Shape 97"/>
          <p:cNvSpPr/>
          <p:nvPr/>
        </p:nvSpPr>
        <p:spPr>
          <a:xfrm>
            <a:off x="9829800" y="3749040"/>
            <a:ext cx="137160" cy="0"/>
          </a:xfrm>
          <a:prstGeom prst="line">
            <a:avLst/>
          </a:prstGeom>
          <a:noFill/>
          <a:ln w="19050">
            <a:solidFill>
              <a:srgbClr val="2563EB"/>
            </a:solidFill>
            <a:prstDash val="solid"/>
            <a:headEnd type="triangle"/>
            <a:tailEnd type="triangle"/>
          </a:ln>
        </p:spPr>
      </p:sp>
      <p:sp>
        <p:nvSpPr>
          <p:cNvPr id="100" name="Shape 98"/>
          <p:cNvSpPr/>
          <p:nvPr/>
        </p:nvSpPr>
        <p:spPr>
          <a:xfrm>
            <a:off x="9829800" y="5440680"/>
            <a:ext cx="137160" cy="0"/>
          </a:xfrm>
          <a:prstGeom prst="line">
            <a:avLst/>
          </a:prstGeom>
          <a:noFill/>
          <a:ln w="19050">
            <a:solidFill>
              <a:srgbClr val="2563EB"/>
            </a:solidFill>
            <a:prstDash val="solid"/>
            <a:headEnd type="triangle"/>
            <a:tailEnd type="triangle"/>
          </a:ln>
        </p:spPr>
      </p:sp>
      <p:sp>
        <p:nvSpPr>
          <p:cNvPr id="101" name="Text 99"/>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2026-10-04T09:00:21Z</dcterms:created>
  <dcterms:modified xsi:type="dcterms:W3CDTF">2026-10-04T09:00:21Z</dcterms:modified>
</cp:coreProperties>
</file>