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with your own template title slide and copy the text across.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slide: problem, how the agent works, and the three capability pillars.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architecture. Every element is a native, editable PowerPoint shape or text box - no images. Google BigQuery holds all data (inventory, vendor prices, budget ledger, approval policy, approver emails, audit log). Google Application Integration runs the workflow actions: create_purchase_order and request_approval (a native Approval task that emails the approver Approve / Reject and waits; a notify_approver email trigger also exists). The agent runs on Vertex AI Agent Engine and is used from the Gemini Enterprise chat; for that front end the root agent calls the three specialists as tools so it writes every reply, and each specialist uses batch tools to keep a request to about a minute.. The agent is deployed to Vertex AI Agent Engine (hosted runtime and managed sessions). The human approval is an emailed Approve / Reject link handled by a small Cloud Run service (signed link, no login), which then triggers the order; purchase orders are blocked in code without an approved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C1D95"/>
        </a:solidFill>
      </p:bgPr>
    </p:bg>
    <p:spTree>
      <p:nvGrpSpPr>
        <p:cNvPr id="1" name=""/>
        <p:cNvGrpSpPr/>
        <p:nvPr/>
      </p:nvGrpSpPr>
      <p:grpSpPr>
        <a:xfrm>
          <a:off x="0" y="0"/>
          <a:ext cx="0" cy="0"/>
          <a:chOff x="0" y="0"/>
          <a:chExt cx="0" cy="0"/>
        </a:xfrm>
      </p:grpSpPr>
      <p:sp>
        <p:nvSpPr>
          <p:cNvPr id="2" name="Text 0"/>
          <p:cNvSpPr txBox="1"/>
          <p:nvPr/>
        </p:nvSpPr>
        <p:spPr>
          <a:xfrm>
            <a:off x="822960" y="210312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The Campaign Provisioner</a:t>
            </a:r>
            <a:endParaRPr lang="en-US" sz="4400" dirty="0"/>
          </a:p>
        </p:txBody>
      </p:sp>
      <p:sp>
        <p:nvSpPr>
          <p:cNvPr id="3" name="Text 1"/>
          <p:cNvSpPr txBox="1"/>
          <p:nvPr/>
        </p:nvSpPr>
        <p:spPr>
          <a:xfrm>
            <a:off x="822960" y="3108960"/>
            <a:ext cx="9601200" cy="82296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Google Next 2027 Edition: An Autonomous Marketing Logistics Agent on BigQuery and Application Integration, with Human-in-the-Loop Approvals</a:t>
            </a:r>
            <a:endParaRPr lang="en-US" sz="2200" dirty="0"/>
          </a:p>
        </p:txBody>
      </p:sp>
      <p:sp>
        <p:nvSpPr>
          <p:cNvPr id="4" name="Text 2"/>
          <p:cNvSpPr txBox="1"/>
          <p:nvPr/>
        </p:nvSpPr>
        <p:spPr>
          <a:xfrm>
            <a:off x="822960" y="4206240"/>
            <a:ext cx="9601200" cy="457200"/>
          </a:xfrm>
          <a:prstGeom prst="rect">
            <a:avLst/>
          </a:prstGeom>
          <a:noFill/>
          <a:ln/>
        </p:spPr>
        <p:txBody>
          <a:bodyPr wrap="square" lIns="0" tIns="0" rIns="0" bIns="0" rtlCol="0" anchor="ctr"/>
          <a:lstStyle/>
          <a:p>
            <a:pPr indent="0" marL="0">
              <a:buNone/>
            </a:pPr>
            <a:r>
              <a:rPr lang="en-US" sz="1800" dirty="0">
                <a:solidFill>
                  <a:srgbClr val="DDD6FE"/>
                </a:solidFill>
                <a:latin typeface="Calibri" pitchFamily="34" charset="0"/>
                <a:ea typeface="Calibri" pitchFamily="34" charset="-122"/>
                <a:cs typeface="Calibri" pitchFamily="34" charset="-120"/>
              </a:rPr>
              <a:t>User Persona: Marketing Manager, Campaign Planner, Finance Approver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6400800" cy="640080"/>
          </a:xfrm>
          <a:prstGeom prst="rect">
            <a:avLst/>
          </a:prstGeom>
          <a:noFill/>
          <a:ln/>
        </p:spPr>
        <p:txBody>
          <a:bodyPr wrap="square" lIns="0" tIns="0" rIns="0" bIns="0" rtlCol="0" anchor="ctr"/>
          <a:lstStyle/>
          <a:p>
            <a:pPr indent="0" marL="0">
              <a:buNone/>
            </a:pPr>
            <a:r>
              <a:rPr lang="en-US" sz="3000" dirty="0">
                <a:solidFill>
                  <a:srgbClr val="1E293B"/>
                </a:solidFill>
                <a:latin typeface="Calibri" pitchFamily="34" charset="0"/>
                <a:ea typeface="Calibri" pitchFamily="34" charset="-122"/>
                <a:cs typeface="Calibri" pitchFamily="34" charset="-120"/>
              </a:rPr>
              <a:t>The Campaign Provisioner</a:t>
            </a:r>
            <a:endParaRPr lang="en-US" sz="3000" dirty="0"/>
          </a:p>
        </p:txBody>
      </p:sp>
      <p:sp>
        <p:nvSpPr>
          <p:cNvPr id="3" name="Text 1"/>
          <p:cNvSpPr txBox="1"/>
          <p:nvPr/>
        </p:nvSpPr>
        <p:spPr>
          <a:xfrm>
            <a:off x="548640" y="1280160"/>
            <a:ext cx="5669280" cy="47548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E293B"/>
                </a:solidFill>
                <a:latin typeface="Calibri" pitchFamily="34" charset="0"/>
                <a:ea typeface="Calibri" pitchFamily="34" charset="-122"/>
                <a:cs typeface="Calibri" pitchFamily="34" charset="-120"/>
              </a:rPr>
              <a:t>Event campaign logistics are slow and fragmented. Teams chase stock levels in one system, vendor quotes in another and budget sign-off by email, so launches slip and spend goes unchecked.</a:t>
            </a:r>
            <a:endParaRPr lang="en-US" sz="1600" dirty="0"/>
          </a:p>
          <a:p>
            <a:pPr marL="342900" indent="-342900">
              <a:buSzPct val="100000"/>
              <a:buChar char="•"/>
            </a:pPr>
            <a:r>
              <a:rPr lang="en-US" sz="1600" dirty="0">
                <a:solidFill>
                  <a:srgbClr val="1E293B"/>
                </a:solidFill>
                <a:latin typeface="Calibri" pitchFamily="34" charset="0"/>
                <a:ea typeface="Calibri" pitchFamily="34" charset="-122"/>
                <a:cs typeface="Calibri" pitchFamily="34" charset="-120"/>
              </a:rPr>
              <a:t>The agent works as an autonomous logistics coordinator. A central orchestrator registers each request and governs three specialist sub-agents: Inventory checks and reserves stock, Procurement gets vendor quotes and creates purchase orders, and Budget validates funds. All data is read from BigQuery, and purchase orders and approver alerts run as Google Application Integration workflows. Spend above the tier limits pauses for a named human approver, and no purchase order can be created without an approved budget.</a:t>
            </a:r>
            <a:endParaRPr lang="en-US" sz="1600" dirty="0"/>
          </a:p>
        </p:txBody>
      </p:sp>
      <p:sp>
        <p:nvSpPr>
          <p:cNvPr id="4" name="Shape 2"/>
          <p:cNvSpPr/>
          <p:nvPr/>
        </p:nvSpPr>
        <p:spPr>
          <a:xfrm>
            <a:off x="6583680" y="0"/>
            <a:ext cx="5605272" cy="6858000"/>
          </a:xfrm>
          <a:prstGeom prst="rect">
            <a:avLst/>
          </a:prstGeom>
          <a:solidFill>
            <a:srgbClr val="2B4BD8"/>
          </a:solidFill>
          <a:ln w="12700">
            <a:solidFill>
              <a:srgbClr val="2B4BD8"/>
            </a:solidFill>
            <a:prstDash val="solid"/>
          </a:ln>
        </p:spPr>
      </p:sp>
      <p:sp>
        <p:nvSpPr>
          <p:cNvPr id="5" name="Text 3"/>
          <p:cNvSpPr txBox="1"/>
          <p:nvPr/>
        </p:nvSpPr>
        <p:spPr>
          <a:xfrm>
            <a:off x="6858000" y="960120"/>
            <a:ext cx="548640" cy="731520"/>
          </a:xfrm>
          <a:prstGeom prst="rect">
            <a:avLst/>
          </a:prstGeom>
          <a:noFill/>
          <a:ln/>
        </p:spPr>
        <p:txBody>
          <a:bodyPr wrap="square" lIns="0" tIns="0" rIns="0" bIns="0" rtlCol="0" anchor="ctr"/>
          <a:lstStyle/>
          <a:p>
            <a:pPr indent="0" marL="0">
              <a:buNone/>
            </a:pPr>
            <a:r>
              <a:rPr lang="en-US" sz="4000" dirty="0">
                <a:solidFill>
                  <a:srgbClr val="FFFFFF"/>
                </a:solidFill>
                <a:latin typeface="Calibri" pitchFamily="34" charset="0"/>
                <a:ea typeface="Calibri" pitchFamily="34" charset="-122"/>
                <a:cs typeface="Calibri" pitchFamily="34" charset="-120"/>
              </a:rPr>
              <a:t>1</a:t>
            </a:r>
            <a:endParaRPr lang="en-US" sz="4000" dirty="0"/>
          </a:p>
        </p:txBody>
      </p:sp>
      <p:sp>
        <p:nvSpPr>
          <p:cNvPr id="6" name="Text 4"/>
          <p:cNvSpPr txBox="1"/>
          <p:nvPr/>
        </p:nvSpPr>
        <p:spPr>
          <a:xfrm>
            <a:off x="7498080" y="640080"/>
            <a:ext cx="429768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Autonomous Stock &amp; Sourcing</a:t>
            </a:r>
            <a:endParaRPr lang="en-US" sz="1800" dirty="0"/>
          </a:p>
        </p:txBody>
      </p:sp>
      <p:sp>
        <p:nvSpPr>
          <p:cNvPr id="7" name="Text 5"/>
          <p:cNvSpPr txBox="1"/>
          <p:nvPr/>
        </p:nvSpPr>
        <p:spPr>
          <a:xfrm>
            <a:off x="7498080" y="1097280"/>
            <a:ext cx="4297680" cy="12801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Reads live stock, vendor prices and budgets from BigQuery, reserves available units and calculates shortfalls. Procurement compares vendor quotes on price and lead time and recommends the best fit.</a:t>
            </a:r>
            <a:endParaRPr lang="en-US" sz="1200" dirty="0"/>
          </a:p>
        </p:txBody>
      </p:sp>
      <p:sp>
        <p:nvSpPr>
          <p:cNvPr id="8" name="Shape 6"/>
          <p:cNvSpPr/>
          <p:nvPr/>
        </p:nvSpPr>
        <p:spPr>
          <a:xfrm>
            <a:off x="7498080" y="2450592"/>
            <a:ext cx="4297680" cy="0"/>
          </a:xfrm>
          <a:prstGeom prst="line">
            <a:avLst/>
          </a:prstGeom>
          <a:noFill/>
          <a:ln w="12700">
            <a:solidFill>
              <a:srgbClr val="FFFFFF"/>
            </a:solidFill>
            <a:prstDash val="solid"/>
          </a:ln>
        </p:spPr>
      </p:sp>
      <p:sp>
        <p:nvSpPr>
          <p:cNvPr id="9" name="Text 7"/>
          <p:cNvSpPr txBox="1"/>
          <p:nvPr/>
        </p:nvSpPr>
        <p:spPr>
          <a:xfrm>
            <a:off x="6858000" y="2926080"/>
            <a:ext cx="548640" cy="731520"/>
          </a:xfrm>
          <a:prstGeom prst="rect">
            <a:avLst/>
          </a:prstGeom>
          <a:noFill/>
          <a:ln/>
        </p:spPr>
        <p:txBody>
          <a:bodyPr wrap="square" lIns="0" tIns="0" rIns="0" bIns="0" rtlCol="0" anchor="ctr"/>
          <a:lstStyle/>
          <a:p>
            <a:pPr indent="0" marL="0">
              <a:buNone/>
            </a:pPr>
            <a:r>
              <a:rPr lang="en-US" sz="4000" dirty="0">
                <a:solidFill>
                  <a:srgbClr val="FFFFFF"/>
                </a:solidFill>
                <a:latin typeface="Calibri" pitchFamily="34" charset="0"/>
                <a:ea typeface="Calibri" pitchFamily="34" charset="-122"/>
                <a:cs typeface="Calibri" pitchFamily="34" charset="-120"/>
              </a:rPr>
              <a:t>2</a:t>
            </a:r>
            <a:endParaRPr lang="en-US" sz="4000" dirty="0"/>
          </a:p>
        </p:txBody>
      </p:sp>
      <p:sp>
        <p:nvSpPr>
          <p:cNvPr id="10" name="Text 8"/>
          <p:cNvSpPr txBox="1"/>
          <p:nvPr/>
        </p:nvSpPr>
        <p:spPr>
          <a:xfrm>
            <a:off x="7498080" y="2606040"/>
            <a:ext cx="429768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Tiered Human Approval</a:t>
            </a:r>
            <a:endParaRPr lang="en-US" sz="1800" dirty="0"/>
          </a:p>
        </p:txBody>
      </p:sp>
      <p:sp>
        <p:nvSpPr>
          <p:cNvPr id="11" name="Text 9"/>
          <p:cNvSpPr txBox="1"/>
          <p:nvPr/>
        </p:nvSpPr>
        <p:spPr>
          <a:xfrm>
            <a:off x="7498080" y="3063240"/>
            <a:ext cx="4297680" cy="12801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Approval tiers and approver emails are stored in BigQuery. Routine spend is approved by policy. Higher tiers start an Application Integration approval: the approver gets an Approve / Reject email, and the decision creates the order or releases the stock (Marketing Director, or VP Marketing and Finance Controller).</a:t>
            </a:r>
            <a:endParaRPr lang="en-US" sz="1200" dirty="0"/>
          </a:p>
        </p:txBody>
      </p:sp>
      <p:sp>
        <p:nvSpPr>
          <p:cNvPr id="12" name="Shape 10"/>
          <p:cNvSpPr/>
          <p:nvPr/>
        </p:nvSpPr>
        <p:spPr>
          <a:xfrm>
            <a:off x="7498080" y="4416552"/>
            <a:ext cx="4297680" cy="0"/>
          </a:xfrm>
          <a:prstGeom prst="line">
            <a:avLst/>
          </a:prstGeom>
          <a:noFill/>
          <a:ln w="12700">
            <a:solidFill>
              <a:srgbClr val="FFFFFF"/>
            </a:solidFill>
            <a:prstDash val="solid"/>
          </a:ln>
        </p:spPr>
      </p:sp>
      <p:sp>
        <p:nvSpPr>
          <p:cNvPr id="13" name="Text 11"/>
          <p:cNvSpPr txBox="1"/>
          <p:nvPr/>
        </p:nvSpPr>
        <p:spPr>
          <a:xfrm>
            <a:off x="6858000" y="4892040"/>
            <a:ext cx="548640" cy="731520"/>
          </a:xfrm>
          <a:prstGeom prst="rect">
            <a:avLst/>
          </a:prstGeom>
          <a:noFill/>
          <a:ln/>
        </p:spPr>
        <p:txBody>
          <a:bodyPr wrap="square" lIns="0" tIns="0" rIns="0" bIns="0" rtlCol="0" anchor="ctr"/>
          <a:lstStyle/>
          <a:p>
            <a:pPr indent="0" marL="0">
              <a:buNone/>
            </a:pPr>
            <a:r>
              <a:rPr lang="en-US" sz="4000" dirty="0">
                <a:solidFill>
                  <a:srgbClr val="FFFFFF"/>
                </a:solidFill>
                <a:latin typeface="Calibri" pitchFamily="34" charset="0"/>
                <a:ea typeface="Calibri" pitchFamily="34" charset="-122"/>
                <a:cs typeface="Calibri" pitchFamily="34" charset="-120"/>
              </a:rPr>
              <a:t>3</a:t>
            </a:r>
            <a:endParaRPr lang="en-US" sz="4000" dirty="0"/>
          </a:p>
        </p:txBody>
      </p:sp>
      <p:sp>
        <p:nvSpPr>
          <p:cNvPr id="14" name="Text 12"/>
          <p:cNvSpPr txBox="1"/>
          <p:nvPr/>
        </p:nvSpPr>
        <p:spPr>
          <a:xfrm>
            <a:off x="7498080" y="4572000"/>
            <a:ext cx="429768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Controlled Execution &amp; Audit</a:t>
            </a:r>
            <a:endParaRPr lang="en-US" sz="1800" dirty="0"/>
          </a:p>
        </p:txBody>
      </p:sp>
      <p:sp>
        <p:nvSpPr>
          <p:cNvPr id="15" name="Text 13"/>
          <p:cNvSpPr txBox="1"/>
          <p:nvPr/>
        </p:nvSpPr>
        <p:spPr>
          <a:xfrm>
            <a:off x="7498080" y="5029200"/>
            <a:ext cx="4297680" cy="12801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Purchase orders are created through Application Integration and hard-blocked until an approved budget covers them. Every action is written to a BigQuery audit log, and the orchestrator returns one consolidated summary.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82880"/>
            <a:ext cx="11247120" cy="548640"/>
          </a:xfrm>
          <a:prstGeom prst="rect">
            <a:avLst/>
          </a:prstGeom>
          <a:noFill/>
          <a:ln/>
        </p:spPr>
        <p:txBody>
          <a:bodyPr wrap="square" lIns="25400" tIns="25400" rIns="25400" bIns="25400" rtlCol="0" anchor="ctr"/>
          <a:lstStyle/>
          <a:p>
            <a:pPr algn="ctr" indent="0" marL="0">
              <a:buNone/>
            </a:pPr>
            <a:r>
              <a:rPr lang="en-US" sz="2600" dirty="0">
                <a:solidFill>
                  <a:srgbClr val="2563EB"/>
                </a:solidFill>
                <a:latin typeface="Calibri" pitchFamily="34" charset="0"/>
                <a:ea typeface="Calibri" pitchFamily="34" charset="-122"/>
                <a:cs typeface="Calibri" pitchFamily="34" charset="-120"/>
              </a:rPr>
              <a:t>The Campaign Provisioner Agent : Reference Architecture</a:t>
            </a:r>
            <a:endParaRPr lang="en-US" sz="2600" dirty="0"/>
          </a:p>
        </p:txBody>
      </p:sp>
      <p:sp>
        <p:nvSpPr>
          <p:cNvPr id="3" name="Shape 1"/>
          <p:cNvSpPr/>
          <p:nvPr/>
        </p:nvSpPr>
        <p:spPr>
          <a:xfrm>
            <a:off x="457200" y="822960"/>
            <a:ext cx="11247120" cy="0"/>
          </a:xfrm>
          <a:prstGeom prst="line">
            <a:avLst/>
          </a:prstGeom>
          <a:noFill/>
          <a:ln w="9525">
            <a:solidFill>
              <a:srgbClr val="D1D5DB"/>
            </a:solidFill>
            <a:prstDash val="solid"/>
          </a:ln>
        </p:spPr>
      </p:sp>
      <p:sp>
        <p:nvSpPr>
          <p:cNvPr id="4" name="Shape 2"/>
          <p:cNvSpPr/>
          <p:nvPr/>
        </p:nvSpPr>
        <p:spPr>
          <a:xfrm>
            <a:off x="365760" y="2286000"/>
            <a:ext cx="1828800" cy="2103120"/>
          </a:xfrm>
          <a:prstGeom prst="rect">
            <a:avLst/>
          </a:prstGeom>
          <a:solidFill>
            <a:srgbClr val="EFF4FF"/>
          </a:solidFill>
          <a:ln w="12700">
            <a:solidFill>
              <a:srgbClr val="93A8D8"/>
            </a:solidFill>
            <a:prstDash val="solid"/>
          </a:ln>
        </p:spPr>
      </p:sp>
      <p:sp>
        <p:nvSpPr>
          <p:cNvPr id="5" name="Text 3"/>
          <p:cNvSpPr txBox="1"/>
          <p:nvPr/>
        </p:nvSpPr>
        <p:spPr>
          <a:xfrm>
            <a:off x="411480" y="2331720"/>
            <a:ext cx="1737360" cy="274320"/>
          </a:xfrm>
          <a:prstGeom prst="rect">
            <a:avLst/>
          </a:prstGeom>
          <a:noFill/>
          <a:ln/>
        </p:spPr>
        <p:txBody>
          <a:bodyPr wrap="square" lIns="25400" tIns="25400" rIns="25400" bIns="25400" rtlCol="0" anchor="ctr"/>
          <a:lstStyle/>
          <a:p>
            <a:pPr algn="ctr" indent="0" marL="0">
              <a:buNone/>
            </a:pPr>
            <a:r>
              <a:rPr lang="en-US" sz="1100" b="1" dirty="0">
                <a:solidFill>
                  <a:srgbClr val="1F3A8A"/>
                </a:solidFill>
                <a:latin typeface="Calibri" pitchFamily="34" charset="0"/>
                <a:ea typeface="Calibri" pitchFamily="34" charset="-122"/>
                <a:cs typeface="Calibri" pitchFamily="34" charset="-120"/>
              </a:rPr>
              <a:t>Users &amp; Channels</a:t>
            </a:r>
            <a:endParaRPr lang="en-US" sz="1100" dirty="0"/>
          </a:p>
        </p:txBody>
      </p:sp>
      <p:sp>
        <p:nvSpPr>
          <p:cNvPr id="6" name="Text 4"/>
          <p:cNvSpPr txBox="1"/>
          <p:nvPr/>
        </p:nvSpPr>
        <p:spPr>
          <a:xfrm>
            <a:off x="411480" y="2651760"/>
            <a:ext cx="1737360" cy="731520"/>
          </a:xfrm>
          <a:prstGeom prst="rect">
            <a:avLst/>
          </a:prstGeom>
          <a:noFill/>
          <a:ln/>
        </p:spPr>
        <p:txBody>
          <a:bodyPr wrap="square" lIns="25400" tIns="25400" rIns="25400" bIns="2540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Marketing Manager,</a:t>
            </a:r>
            <a:endParaRPr lang="en-US" sz="900" dirty="0"/>
          </a:p>
          <a:p>
            <a:pPr algn="ctr" indent="0" marL="0">
              <a:buNone/>
            </a:pPr>
            <a:r>
              <a:rPr lang="en-US" sz="900" b="1" dirty="0">
                <a:solidFill>
                  <a:srgbClr val="1E293B"/>
                </a:solidFill>
                <a:latin typeface="Calibri" pitchFamily="34" charset="0"/>
                <a:ea typeface="Calibri" pitchFamily="34" charset="-122"/>
                <a:cs typeface="Calibri" pitchFamily="34" charset="-120"/>
              </a:rPr>
              <a:t>Campaign Planner</a:t>
            </a:r>
            <a:endParaRPr lang="en-US" sz="900" dirty="0"/>
          </a:p>
        </p:txBody>
      </p:sp>
      <p:sp>
        <p:nvSpPr>
          <p:cNvPr id="7" name="Text 5"/>
          <p:cNvSpPr txBox="1"/>
          <p:nvPr/>
        </p:nvSpPr>
        <p:spPr>
          <a:xfrm>
            <a:off x="411480" y="3429000"/>
            <a:ext cx="1737360" cy="274320"/>
          </a:xfrm>
          <a:prstGeom prst="rect">
            <a:avLst/>
          </a:prstGeom>
          <a:noFill/>
          <a:ln/>
        </p:spPr>
        <p:txBody>
          <a:bodyPr wrap="square" lIns="25400" tIns="25400" rIns="25400" bIns="25400" rtlCol="0" anchor="ctr"/>
          <a:lstStyle/>
          <a:p>
            <a:pPr algn="ctr" indent="0" marL="0">
              <a:buNone/>
            </a:pPr>
            <a:r>
              <a:rPr lang="en-US" sz="1100" b="1" dirty="0">
                <a:solidFill>
                  <a:srgbClr val="1F3A8A"/>
                </a:solidFill>
                <a:latin typeface="Calibri" pitchFamily="34" charset="0"/>
                <a:ea typeface="Calibri" pitchFamily="34" charset="-122"/>
                <a:cs typeface="Calibri" pitchFamily="34" charset="-120"/>
              </a:rPr>
              <a:t>Interfaces</a:t>
            </a:r>
            <a:endParaRPr lang="en-US" sz="1100" dirty="0"/>
          </a:p>
        </p:txBody>
      </p:sp>
      <p:sp>
        <p:nvSpPr>
          <p:cNvPr id="8" name="Shape 6"/>
          <p:cNvSpPr/>
          <p:nvPr/>
        </p:nvSpPr>
        <p:spPr>
          <a:xfrm>
            <a:off x="502920" y="3703320"/>
            <a:ext cx="1554480" cy="274320"/>
          </a:xfrm>
          <a:prstGeom prst="roundRect">
            <a:avLst>
              <a:gd name="adj" fmla="val 20000"/>
            </a:avLst>
          </a:prstGeom>
          <a:solidFill>
            <a:srgbClr val="FFFFFF"/>
          </a:solidFill>
          <a:ln w="12700">
            <a:solidFill>
              <a:srgbClr val="93A8D8"/>
            </a:solidFill>
            <a:prstDash val="solid"/>
          </a:ln>
        </p:spPr>
      </p:sp>
      <p:sp>
        <p:nvSpPr>
          <p:cNvPr id="9" name="Text 7"/>
          <p:cNvSpPr txBox="1"/>
          <p:nvPr/>
        </p:nvSpPr>
        <p:spPr>
          <a:xfrm>
            <a:off x="548640" y="3739896"/>
            <a:ext cx="1463040" cy="201168"/>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Gemini Enterprise App</a:t>
            </a:r>
            <a:endParaRPr lang="en-US" sz="800" dirty="0"/>
          </a:p>
        </p:txBody>
      </p:sp>
      <p:sp>
        <p:nvSpPr>
          <p:cNvPr id="10" name="Shape 8"/>
          <p:cNvSpPr/>
          <p:nvPr/>
        </p:nvSpPr>
        <p:spPr>
          <a:xfrm>
            <a:off x="502920" y="4023360"/>
            <a:ext cx="1554480" cy="274320"/>
          </a:xfrm>
          <a:prstGeom prst="roundRect">
            <a:avLst>
              <a:gd name="adj" fmla="val 20000"/>
            </a:avLst>
          </a:prstGeom>
          <a:solidFill>
            <a:srgbClr val="FFFFFF"/>
          </a:solidFill>
          <a:ln w="12700">
            <a:solidFill>
              <a:srgbClr val="93A8D8"/>
            </a:solidFill>
            <a:prstDash val="solid"/>
          </a:ln>
        </p:spPr>
      </p:sp>
      <p:sp>
        <p:nvSpPr>
          <p:cNvPr id="11" name="Text 9"/>
          <p:cNvSpPr txBox="1"/>
          <p:nvPr/>
        </p:nvSpPr>
        <p:spPr>
          <a:xfrm>
            <a:off x="548640" y="4059936"/>
            <a:ext cx="1463040" cy="201168"/>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Custom Apps / ADK Web</a:t>
            </a:r>
            <a:endParaRPr lang="en-US" sz="800" dirty="0"/>
          </a:p>
        </p:txBody>
      </p:sp>
      <p:sp>
        <p:nvSpPr>
          <p:cNvPr id="12" name="Shape 10"/>
          <p:cNvSpPr/>
          <p:nvPr/>
        </p:nvSpPr>
        <p:spPr>
          <a:xfrm>
            <a:off x="2194560" y="2926080"/>
            <a:ext cx="502920" cy="0"/>
          </a:xfrm>
          <a:prstGeom prst="line">
            <a:avLst/>
          </a:prstGeom>
          <a:noFill/>
          <a:ln w="19050">
            <a:solidFill>
              <a:srgbClr val="2563EB"/>
            </a:solidFill>
            <a:prstDash val="solid"/>
            <a:tailEnd type="triangle"/>
          </a:ln>
        </p:spPr>
      </p:sp>
      <p:sp>
        <p:nvSpPr>
          <p:cNvPr id="13" name="Text 11"/>
          <p:cNvSpPr txBox="1"/>
          <p:nvPr/>
        </p:nvSpPr>
        <p:spPr>
          <a:xfrm>
            <a:off x="2148840" y="2697480"/>
            <a:ext cx="548640" cy="182880"/>
          </a:xfrm>
          <a:prstGeom prst="rect">
            <a:avLst/>
          </a:prstGeom>
          <a:noFill/>
          <a:ln/>
        </p:spPr>
        <p:txBody>
          <a:bodyPr wrap="square" lIns="25400" tIns="25400" rIns="25400" bIns="2540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Request</a:t>
            </a:r>
            <a:endParaRPr lang="en-US" sz="700" dirty="0"/>
          </a:p>
        </p:txBody>
      </p:sp>
      <p:sp>
        <p:nvSpPr>
          <p:cNvPr id="14" name="Shape 12"/>
          <p:cNvSpPr/>
          <p:nvPr/>
        </p:nvSpPr>
        <p:spPr>
          <a:xfrm flipH="1">
            <a:off x="2194560" y="3566160"/>
            <a:ext cx="502920" cy="0"/>
          </a:xfrm>
          <a:prstGeom prst="line">
            <a:avLst/>
          </a:prstGeom>
          <a:noFill/>
          <a:ln w="19050">
            <a:solidFill>
              <a:srgbClr val="2563EB"/>
            </a:solidFill>
            <a:prstDash val="solid"/>
            <a:tailEnd type="triangle"/>
          </a:ln>
        </p:spPr>
      </p:sp>
      <p:sp>
        <p:nvSpPr>
          <p:cNvPr id="15" name="Text 13"/>
          <p:cNvSpPr txBox="1"/>
          <p:nvPr/>
        </p:nvSpPr>
        <p:spPr>
          <a:xfrm>
            <a:off x="2148840" y="3611880"/>
            <a:ext cx="548640" cy="182880"/>
          </a:xfrm>
          <a:prstGeom prst="rect">
            <a:avLst/>
          </a:prstGeom>
          <a:noFill/>
          <a:ln/>
        </p:spPr>
        <p:txBody>
          <a:bodyPr wrap="square" lIns="25400" tIns="25400" rIns="25400" bIns="2540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Results</a:t>
            </a:r>
            <a:endParaRPr lang="en-US" sz="700" dirty="0"/>
          </a:p>
        </p:txBody>
      </p:sp>
      <p:sp>
        <p:nvSpPr>
          <p:cNvPr id="16" name="Shape 14"/>
          <p:cNvSpPr/>
          <p:nvPr/>
        </p:nvSpPr>
        <p:spPr>
          <a:xfrm>
            <a:off x="365760" y="4572000"/>
            <a:ext cx="1828800" cy="1234440"/>
          </a:xfrm>
          <a:prstGeom prst="rect">
            <a:avLst/>
          </a:prstGeom>
          <a:solidFill>
            <a:srgbClr val="EFF4FF"/>
          </a:solidFill>
          <a:ln w="12700">
            <a:solidFill>
              <a:srgbClr val="93A8D8"/>
            </a:solidFill>
            <a:prstDash val="solid"/>
          </a:ln>
        </p:spPr>
      </p:sp>
      <p:sp>
        <p:nvSpPr>
          <p:cNvPr id="17" name="Text 15"/>
          <p:cNvSpPr txBox="1"/>
          <p:nvPr/>
        </p:nvSpPr>
        <p:spPr>
          <a:xfrm>
            <a:off x="411480" y="4599432"/>
            <a:ext cx="1737360" cy="256032"/>
          </a:xfrm>
          <a:prstGeom prst="rect">
            <a:avLst/>
          </a:prstGeom>
          <a:noFill/>
          <a:ln/>
        </p:spPr>
        <p:txBody>
          <a:bodyPr wrap="square" lIns="25400" tIns="25400" rIns="25400" bIns="25400" rtlCol="0" anchor="ctr"/>
          <a:lstStyle/>
          <a:p>
            <a:pPr algn="ctr" indent="0" marL="0">
              <a:buNone/>
            </a:pPr>
            <a:r>
              <a:rPr lang="en-US" sz="1000" b="1" dirty="0">
                <a:solidFill>
                  <a:srgbClr val="1F3A8A"/>
                </a:solidFill>
                <a:latin typeface="Calibri" pitchFamily="34" charset="0"/>
                <a:ea typeface="Calibri" pitchFamily="34" charset="-122"/>
                <a:cs typeface="Calibri" pitchFamily="34" charset="-120"/>
              </a:rPr>
              <a:t>Approver (HITL)</a:t>
            </a:r>
            <a:endParaRPr lang="en-US" sz="1000" dirty="0"/>
          </a:p>
        </p:txBody>
      </p:sp>
      <p:sp>
        <p:nvSpPr>
          <p:cNvPr id="18" name="Shape 16"/>
          <p:cNvSpPr/>
          <p:nvPr/>
        </p:nvSpPr>
        <p:spPr>
          <a:xfrm>
            <a:off x="502920" y="4864608"/>
            <a:ext cx="1554480" cy="384048"/>
          </a:xfrm>
          <a:prstGeom prst="roundRect">
            <a:avLst>
              <a:gd name="adj" fmla="val 14286"/>
            </a:avLst>
          </a:prstGeom>
          <a:solidFill>
            <a:srgbClr val="FFFFFF"/>
          </a:solidFill>
          <a:ln w="12700">
            <a:solidFill>
              <a:srgbClr val="93A8D8"/>
            </a:solidFill>
            <a:prstDash val="solid"/>
          </a:ln>
        </p:spPr>
      </p:sp>
      <p:sp>
        <p:nvSpPr>
          <p:cNvPr id="19" name="Text 17"/>
          <p:cNvSpPr txBox="1"/>
          <p:nvPr/>
        </p:nvSpPr>
        <p:spPr>
          <a:xfrm>
            <a:off x="548640" y="4901184"/>
            <a:ext cx="1463040" cy="310896"/>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Email: Approve / Reject</a:t>
            </a:r>
            <a:endParaRPr lang="en-US" sz="800" dirty="0"/>
          </a:p>
        </p:txBody>
      </p:sp>
      <p:sp>
        <p:nvSpPr>
          <p:cNvPr id="20" name="Shape 18"/>
          <p:cNvSpPr/>
          <p:nvPr/>
        </p:nvSpPr>
        <p:spPr>
          <a:xfrm>
            <a:off x="502920" y="5303520"/>
            <a:ext cx="1554480" cy="411480"/>
          </a:xfrm>
          <a:prstGeom prst="roundRect">
            <a:avLst>
              <a:gd name="adj" fmla="val 13333"/>
            </a:avLst>
          </a:prstGeom>
          <a:solidFill>
            <a:srgbClr val="FFFFFF"/>
          </a:solidFill>
          <a:ln w="12700">
            <a:solidFill>
              <a:srgbClr val="93A8D8"/>
            </a:solidFill>
            <a:prstDash val="solid"/>
          </a:ln>
        </p:spPr>
      </p:sp>
      <p:sp>
        <p:nvSpPr>
          <p:cNvPr id="21" name="Text 19"/>
          <p:cNvSpPr txBox="1"/>
          <p:nvPr/>
        </p:nvSpPr>
        <p:spPr>
          <a:xfrm>
            <a:off x="548640" y="5340096"/>
            <a:ext cx="1463040" cy="20574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Approval task</a:t>
            </a:r>
            <a:endParaRPr lang="en-US" sz="800" dirty="0"/>
          </a:p>
        </p:txBody>
      </p:sp>
      <p:sp>
        <p:nvSpPr>
          <p:cNvPr id="22" name="Text 20"/>
          <p:cNvSpPr txBox="1"/>
          <p:nvPr/>
        </p:nvSpPr>
        <p:spPr>
          <a:xfrm>
            <a:off x="548640" y="5509260"/>
            <a:ext cx="1463040" cy="185166"/>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Application Integration</a:t>
            </a:r>
            <a:endParaRPr lang="en-US" sz="800" dirty="0"/>
          </a:p>
        </p:txBody>
      </p:sp>
      <p:sp>
        <p:nvSpPr>
          <p:cNvPr id="23" name="Shape 21"/>
          <p:cNvSpPr/>
          <p:nvPr/>
        </p:nvSpPr>
        <p:spPr>
          <a:xfrm>
            <a:off x="2194560" y="5440680"/>
            <a:ext cx="502920" cy="0"/>
          </a:xfrm>
          <a:prstGeom prst="line">
            <a:avLst/>
          </a:prstGeom>
          <a:noFill/>
          <a:ln w="19050">
            <a:solidFill>
              <a:srgbClr val="2563EB"/>
            </a:solidFill>
            <a:prstDash val="solid"/>
            <a:tailEnd type="triangle"/>
          </a:ln>
        </p:spPr>
      </p:sp>
      <p:sp>
        <p:nvSpPr>
          <p:cNvPr id="24" name="Shape 22"/>
          <p:cNvSpPr/>
          <p:nvPr/>
        </p:nvSpPr>
        <p:spPr>
          <a:xfrm>
            <a:off x="2697480" y="960120"/>
            <a:ext cx="6766560" cy="5074920"/>
          </a:xfrm>
          <a:prstGeom prst="rect">
            <a:avLst/>
          </a:prstGeom>
          <a:solidFill>
            <a:srgbClr val="FFFFFF"/>
          </a:solidFill>
          <a:ln w="15875">
            <a:solidFill>
              <a:srgbClr val="2563EB"/>
            </a:solidFill>
            <a:prstDash val="solid"/>
          </a:ln>
        </p:spPr>
      </p:sp>
      <p:sp>
        <p:nvSpPr>
          <p:cNvPr id="25" name="Text 23"/>
          <p:cNvSpPr txBox="1"/>
          <p:nvPr/>
        </p:nvSpPr>
        <p:spPr>
          <a:xfrm>
            <a:off x="2697480" y="987552"/>
            <a:ext cx="6766560" cy="274320"/>
          </a:xfrm>
          <a:prstGeom prst="rect">
            <a:avLst/>
          </a:prstGeom>
          <a:noFill/>
          <a:ln/>
        </p:spPr>
        <p:txBody>
          <a:bodyPr wrap="square" lIns="25400" tIns="25400" rIns="25400" bIns="2540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Google Cloud ( Vertex AI Agent Engine runtime )</a:t>
            </a:r>
            <a:endParaRPr lang="en-US" sz="1000" dirty="0"/>
          </a:p>
        </p:txBody>
      </p:sp>
      <p:sp>
        <p:nvSpPr>
          <p:cNvPr id="26" name="Shape 24"/>
          <p:cNvSpPr/>
          <p:nvPr/>
        </p:nvSpPr>
        <p:spPr>
          <a:xfrm>
            <a:off x="2834640" y="1325880"/>
            <a:ext cx="6492240" cy="1097280"/>
          </a:xfrm>
          <a:prstGeom prst="rect">
            <a:avLst/>
          </a:prstGeom>
          <a:solidFill>
            <a:srgbClr val="EFF4FF"/>
          </a:solidFill>
          <a:ln w="12700">
            <a:solidFill>
              <a:srgbClr val="93A8D8"/>
            </a:solidFill>
            <a:prstDash val="solid"/>
          </a:ln>
        </p:spPr>
      </p:sp>
      <p:sp>
        <p:nvSpPr>
          <p:cNvPr id="27" name="Shape 25"/>
          <p:cNvSpPr/>
          <p:nvPr/>
        </p:nvSpPr>
        <p:spPr>
          <a:xfrm>
            <a:off x="2880360" y="1261872"/>
            <a:ext cx="914400" cy="201168"/>
          </a:xfrm>
          <a:prstGeom prst="roundRect">
            <a:avLst>
              <a:gd name="adj" fmla="val 22727"/>
            </a:avLst>
          </a:prstGeom>
          <a:solidFill>
            <a:srgbClr val="2563EB"/>
          </a:solidFill>
          <a:ln w="12700">
            <a:solidFill>
              <a:srgbClr val="2563EB"/>
            </a:solidFill>
            <a:prstDash val="solid"/>
          </a:ln>
        </p:spPr>
      </p:sp>
      <p:sp>
        <p:nvSpPr>
          <p:cNvPr id="28" name="Text 26"/>
          <p:cNvSpPr txBox="1"/>
          <p:nvPr/>
        </p:nvSpPr>
        <p:spPr>
          <a:xfrm>
            <a:off x="2880360" y="1261872"/>
            <a:ext cx="914400" cy="201168"/>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Root Agent</a:t>
            </a:r>
            <a:endParaRPr lang="en-US" sz="800" dirty="0"/>
          </a:p>
        </p:txBody>
      </p:sp>
      <p:sp>
        <p:nvSpPr>
          <p:cNvPr id="29" name="Text 27"/>
          <p:cNvSpPr txBox="1"/>
          <p:nvPr/>
        </p:nvSpPr>
        <p:spPr>
          <a:xfrm>
            <a:off x="2926080" y="1499616"/>
            <a:ext cx="6309360" cy="310896"/>
          </a:xfrm>
          <a:prstGeom prst="rect">
            <a:avLst/>
          </a:prstGeom>
          <a:noFill/>
          <a:ln/>
        </p:spPr>
        <p:txBody>
          <a:bodyPr wrap="square" lIns="25400" tIns="25400" rIns="25400" bIns="25400" rtlCol="0" anchor="ctr"/>
          <a:lstStyle/>
          <a:p>
            <a:pPr algn="ctr" indent="0" marL="0">
              <a:buNone/>
            </a:pPr>
            <a:r>
              <a:rPr lang="en-US" sz="1300" b="1" dirty="0">
                <a:solidFill>
                  <a:srgbClr val="1F3A8A"/>
                </a:solidFill>
                <a:latin typeface="Calibri" pitchFamily="34" charset="0"/>
                <a:ea typeface="Calibri" pitchFamily="34" charset="-122"/>
                <a:cs typeface="Calibri" pitchFamily="34" charset="-120"/>
              </a:rPr>
              <a:t>Campaign Provisioner Agent (Orchestrator)</a:t>
            </a:r>
            <a:endParaRPr lang="en-US" sz="1300" dirty="0"/>
          </a:p>
        </p:txBody>
      </p:sp>
      <p:sp>
        <p:nvSpPr>
          <p:cNvPr id="30" name="Shape 28"/>
          <p:cNvSpPr/>
          <p:nvPr/>
        </p:nvSpPr>
        <p:spPr>
          <a:xfrm>
            <a:off x="2971800" y="1847088"/>
            <a:ext cx="6217920" cy="457200"/>
          </a:xfrm>
          <a:prstGeom prst="roundRect">
            <a:avLst>
              <a:gd name="adj" fmla="val 12000"/>
            </a:avLst>
          </a:prstGeom>
          <a:solidFill>
            <a:srgbClr val="FFFFFF"/>
          </a:solidFill>
          <a:ln w="12700">
            <a:solidFill>
              <a:srgbClr val="93A8D8"/>
            </a:solidFill>
            <a:prstDash val="solid"/>
          </a:ln>
        </p:spPr>
      </p:sp>
      <p:sp>
        <p:nvSpPr>
          <p:cNvPr id="31" name="Text 29"/>
          <p:cNvSpPr txBox="1"/>
          <p:nvPr/>
        </p:nvSpPr>
        <p:spPr>
          <a:xfrm>
            <a:off x="3017520" y="1865376"/>
            <a:ext cx="6126480" cy="420624"/>
          </a:xfrm>
          <a:prstGeom prst="rect">
            <a:avLst/>
          </a:prstGeom>
          <a:noFill/>
          <a:ln/>
        </p:spPr>
        <p:txBody>
          <a:bodyPr wrap="square" lIns="25400" tIns="25400" rIns="25400" bIns="25400" rtlCol="0" anchor="ctr"/>
          <a:lstStyle/>
          <a:p>
            <a:pPr algn="ctr" indent="0" marL="0">
              <a:buNone/>
            </a:pPr>
            <a:r>
              <a:rPr lang="en-US" sz="850" b="1" dirty="0">
                <a:solidFill>
                  <a:srgbClr val="1F3A8A"/>
                </a:solidFill>
                <a:latin typeface="Calibri" pitchFamily="34" charset="0"/>
                <a:ea typeface="Calibri" pitchFamily="34" charset="-122"/>
                <a:cs typeface="Calibri" pitchFamily="34" charset="-120"/>
              </a:rPr>
              <a:t>Responsibilities of this single agent:  </a:t>
            </a:r>
            <a:pPr algn="ctr" indent="0" marL="0">
              <a:buNone/>
            </a:pPr>
            <a:r>
              <a:rPr lang="en-US" sz="850" dirty="0">
                <a:solidFill>
                  <a:srgbClr val="1E293B"/>
                </a:solidFill>
                <a:latin typeface="Calibri" pitchFamily="34" charset="0"/>
                <a:ea typeface="Calibri" pitchFamily="34" charset="-122"/>
                <a:cs typeface="Calibri" pitchFamily="34" charset="-120"/>
              </a:rPr>
              <a:t>Greeting &amp; Intent  •  Multi-Agent Coordination  •  State Coordination  •  Human Approval Gate (Application Integration)  •  Result Aggregation</a:t>
            </a:r>
            <a:endParaRPr lang="en-US" sz="850" dirty="0"/>
          </a:p>
        </p:txBody>
      </p:sp>
      <p:sp>
        <p:nvSpPr>
          <p:cNvPr id="32" name="Shape 30"/>
          <p:cNvSpPr/>
          <p:nvPr/>
        </p:nvSpPr>
        <p:spPr>
          <a:xfrm>
            <a:off x="2834640" y="2560320"/>
            <a:ext cx="6492240" cy="1874520"/>
          </a:xfrm>
          <a:prstGeom prst="rect">
            <a:avLst/>
          </a:prstGeom>
          <a:solidFill>
            <a:srgbClr val="E8F0FF"/>
          </a:solidFill>
          <a:ln w="12700">
            <a:solidFill>
              <a:srgbClr val="93A8D8"/>
            </a:solidFill>
            <a:prstDash val="dash"/>
          </a:ln>
        </p:spPr>
      </p:sp>
      <p:sp>
        <p:nvSpPr>
          <p:cNvPr id="33" name="Shape 31"/>
          <p:cNvSpPr/>
          <p:nvPr/>
        </p:nvSpPr>
        <p:spPr>
          <a:xfrm>
            <a:off x="2880360" y="2496312"/>
            <a:ext cx="914400" cy="201168"/>
          </a:xfrm>
          <a:prstGeom prst="roundRect">
            <a:avLst>
              <a:gd name="adj" fmla="val 22727"/>
            </a:avLst>
          </a:prstGeom>
          <a:solidFill>
            <a:srgbClr val="2563EB"/>
          </a:solidFill>
          <a:ln w="12700">
            <a:solidFill>
              <a:srgbClr val="2563EB"/>
            </a:solidFill>
            <a:prstDash val="solid"/>
          </a:ln>
        </p:spPr>
      </p:sp>
      <p:sp>
        <p:nvSpPr>
          <p:cNvPr id="34" name="Text 32"/>
          <p:cNvSpPr txBox="1"/>
          <p:nvPr/>
        </p:nvSpPr>
        <p:spPr>
          <a:xfrm>
            <a:off x="2880360" y="2496312"/>
            <a:ext cx="914400" cy="201168"/>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 Sub Agents</a:t>
            </a:r>
            <a:endParaRPr lang="en-US" sz="800" dirty="0"/>
          </a:p>
        </p:txBody>
      </p:sp>
      <p:sp>
        <p:nvSpPr>
          <p:cNvPr id="35" name="Shape 33"/>
          <p:cNvSpPr/>
          <p:nvPr/>
        </p:nvSpPr>
        <p:spPr>
          <a:xfrm>
            <a:off x="2926080" y="2788920"/>
            <a:ext cx="2057400" cy="1554480"/>
          </a:xfrm>
          <a:prstGeom prst="rect">
            <a:avLst/>
          </a:prstGeom>
          <a:solidFill>
            <a:srgbClr val="F0F7FF"/>
          </a:solidFill>
          <a:ln w="12700">
            <a:solidFill>
              <a:srgbClr val="93A8D8"/>
            </a:solidFill>
            <a:prstDash val="solid"/>
          </a:ln>
        </p:spPr>
      </p:sp>
      <p:sp>
        <p:nvSpPr>
          <p:cNvPr id="36" name="Text 34"/>
          <p:cNvSpPr txBox="1"/>
          <p:nvPr/>
        </p:nvSpPr>
        <p:spPr>
          <a:xfrm>
            <a:off x="2971800" y="2816352"/>
            <a:ext cx="1965960" cy="256032"/>
          </a:xfrm>
          <a:prstGeom prst="rect">
            <a:avLst/>
          </a:prstGeom>
          <a:noFill/>
          <a:ln/>
        </p:spPr>
        <p:txBody>
          <a:bodyPr wrap="square" lIns="25400" tIns="25400" rIns="25400" bIns="25400" rtlCol="0" anchor="ctr"/>
          <a:lstStyle/>
          <a:p>
            <a:pPr algn="ctr" indent="0" marL="0">
              <a:buNone/>
            </a:pPr>
            <a:r>
              <a:rPr lang="en-US" sz="1000" b="1" dirty="0">
                <a:solidFill>
                  <a:srgbClr val="6D28D9"/>
                </a:solidFill>
                <a:latin typeface="Calibri" pitchFamily="34" charset="0"/>
                <a:ea typeface="Calibri" pitchFamily="34" charset="-122"/>
                <a:cs typeface="Calibri" pitchFamily="34" charset="-120"/>
              </a:rPr>
              <a:t>1. Inventory Agent</a:t>
            </a:r>
            <a:endParaRPr lang="en-US" sz="1000" dirty="0"/>
          </a:p>
        </p:txBody>
      </p:sp>
      <p:sp>
        <p:nvSpPr>
          <p:cNvPr id="37" name="Text 35"/>
          <p:cNvSpPr txBox="1"/>
          <p:nvPr/>
        </p:nvSpPr>
        <p:spPr>
          <a:xfrm>
            <a:off x="2971800" y="3054096"/>
            <a:ext cx="1965960" cy="201168"/>
          </a:xfrm>
          <a:prstGeom prst="rect">
            <a:avLst/>
          </a:prstGeom>
          <a:noFill/>
          <a:ln/>
        </p:spPr>
        <p:txBody>
          <a:bodyPr wrap="square" lIns="25400" tIns="25400" rIns="25400" bIns="25400" rtlCol="0" anchor="ctr"/>
          <a:lstStyle/>
          <a:p>
            <a:pPr algn="ctr" indent="0" marL="0">
              <a:buNone/>
            </a:pPr>
            <a:r>
              <a:rPr lang="en-US" sz="800" dirty="0">
                <a:solidFill>
                  <a:srgbClr val="6D28D9"/>
                </a:solidFill>
                <a:latin typeface="Calibri" pitchFamily="34" charset="0"/>
                <a:ea typeface="Calibri" pitchFamily="34" charset="-122"/>
                <a:cs typeface="Calibri" pitchFamily="34" charset="-120"/>
              </a:rPr>
              <a:t>(Check &amp; Reserve Stock)</a:t>
            </a:r>
            <a:endParaRPr lang="en-US" sz="800" dirty="0"/>
          </a:p>
        </p:txBody>
      </p:sp>
      <p:sp>
        <p:nvSpPr>
          <p:cNvPr id="38" name="Shape 36"/>
          <p:cNvSpPr/>
          <p:nvPr/>
        </p:nvSpPr>
        <p:spPr>
          <a:xfrm>
            <a:off x="3017520" y="3310128"/>
            <a:ext cx="1874520" cy="960120"/>
          </a:xfrm>
          <a:prstGeom prst="rect">
            <a:avLst/>
          </a:prstGeom>
          <a:solidFill>
            <a:srgbClr val="FFFFFF"/>
          </a:solidFill>
          <a:ln w="12700">
            <a:solidFill>
              <a:srgbClr val="D6E0F5"/>
            </a:solidFill>
            <a:prstDash val="solid"/>
          </a:ln>
        </p:spPr>
      </p:sp>
      <p:sp>
        <p:nvSpPr>
          <p:cNvPr id="39" name="Text 37"/>
          <p:cNvSpPr txBox="1"/>
          <p:nvPr/>
        </p:nvSpPr>
        <p:spPr>
          <a:xfrm>
            <a:off x="3063240" y="3346704"/>
            <a:ext cx="1783080" cy="886968"/>
          </a:xfrm>
          <a:prstGeom prst="rect">
            <a:avLst/>
          </a:prstGeom>
          <a:noFill/>
          <a:ln/>
        </p:spPr>
        <p:txBody>
          <a:bodyPr wrap="square" lIns="25400" tIns="25400" rIns="25400" bIns="25400" rtlCol="0" anchor="ctr"/>
          <a:lstStyle/>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Match items to SKUs (BigQuery)</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Reserve stock, all items at once</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Report shortfall to procure</a:t>
            </a:r>
            <a:endParaRPr lang="en-US" sz="850" dirty="0"/>
          </a:p>
        </p:txBody>
      </p:sp>
      <p:sp>
        <p:nvSpPr>
          <p:cNvPr id="40" name="Shape 38"/>
          <p:cNvSpPr/>
          <p:nvPr/>
        </p:nvSpPr>
        <p:spPr>
          <a:xfrm>
            <a:off x="5056632" y="2788920"/>
            <a:ext cx="2057400" cy="1554480"/>
          </a:xfrm>
          <a:prstGeom prst="rect">
            <a:avLst/>
          </a:prstGeom>
          <a:solidFill>
            <a:srgbClr val="F3EEFF"/>
          </a:solidFill>
          <a:ln w="12700">
            <a:solidFill>
              <a:srgbClr val="93A8D8"/>
            </a:solidFill>
            <a:prstDash val="solid"/>
          </a:ln>
        </p:spPr>
      </p:sp>
      <p:sp>
        <p:nvSpPr>
          <p:cNvPr id="41" name="Text 39"/>
          <p:cNvSpPr txBox="1"/>
          <p:nvPr/>
        </p:nvSpPr>
        <p:spPr>
          <a:xfrm>
            <a:off x="5102352" y="2816352"/>
            <a:ext cx="1965960" cy="256032"/>
          </a:xfrm>
          <a:prstGeom prst="rect">
            <a:avLst/>
          </a:prstGeom>
          <a:noFill/>
          <a:ln/>
        </p:spPr>
        <p:txBody>
          <a:bodyPr wrap="square" lIns="25400" tIns="25400" rIns="25400" bIns="25400" rtlCol="0" anchor="ctr"/>
          <a:lstStyle/>
          <a:p>
            <a:pPr algn="ctr" indent="0" marL="0">
              <a:buNone/>
            </a:pPr>
            <a:r>
              <a:rPr lang="en-US" sz="1000" b="1" dirty="0">
                <a:solidFill>
                  <a:srgbClr val="6D28D9"/>
                </a:solidFill>
                <a:latin typeface="Calibri" pitchFamily="34" charset="0"/>
                <a:ea typeface="Calibri" pitchFamily="34" charset="-122"/>
                <a:cs typeface="Calibri" pitchFamily="34" charset="-120"/>
              </a:rPr>
              <a:t>2. Procurement Agent</a:t>
            </a:r>
            <a:endParaRPr lang="en-US" sz="1000" dirty="0"/>
          </a:p>
        </p:txBody>
      </p:sp>
      <p:sp>
        <p:nvSpPr>
          <p:cNvPr id="42" name="Text 40"/>
          <p:cNvSpPr txBox="1"/>
          <p:nvPr/>
        </p:nvSpPr>
        <p:spPr>
          <a:xfrm>
            <a:off x="5102352" y="3054096"/>
            <a:ext cx="1965960" cy="201168"/>
          </a:xfrm>
          <a:prstGeom prst="rect">
            <a:avLst/>
          </a:prstGeom>
          <a:noFill/>
          <a:ln/>
        </p:spPr>
        <p:txBody>
          <a:bodyPr wrap="square" lIns="25400" tIns="25400" rIns="25400" bIns="25400" rtlCol="0" anchor="ctr"/>
          <a:lstStyle/>
          <a:p>
            <a:pPr algn="ctr" indent="0" marL="0">
              <a:buNone/>
            </a:pPr>
            <a:r>
              <a:rPr lang="en-US" sz="800" dirty="0">
                <a:solidFill>
                  <a:srgbClr val="6D28D9"/>
                </a:solidFill>
                <a:latin typeface="Calibri" pitchFamily="34" charset="0"/>
                <a:ea typeface="Calibri" pitchFamily="34" charset="-122"/>
                <a:cs typeface="Calibri" pitchFamily="34" charset="-120"/>
              </a:rPr>
              <a:t>(Quote &amp; Create PO)</a:t>
            </a:r>
            <a:endParaRPr lang="en-US" sz="800" dirty="0"/>
          </a:p>
        </p:txBody>
      </p:sp>
      <p:sp>
        <p:nvSpPr>
          <p:cNvPr id="43" name="Shape 41"/>
          <p:cNvSpPr/>
          <p:nvPr/>
        </p:nvSpPr>
        <p:spPr>
          <a:xfrm>
            <a:off x="5148072" y="3310128"/>
            <a:ext cx="1874520" cy="960120"/>
          </a:xfrm>
          <a:prstGeom prst="rect">
            <a:avLst/>
          </a:prstGeom>
          <a:solidFill>
            <a:srgbClr val="FFFFFF"/>
          </a:solidFill>
          <a:ln w="12700">
            <a:solidFill>
              <a:srgbClr val="D6E0F5"/>
            </a:solidFill>
            <a:prstDash val="solid"/>
          </a:ln>
        </p:spPr>
      </p:sp>
      <p:sp>
        <p:nvSpPr>
          <p:cNvPr id="44" name="Text 42"/>
          <p:cNvSpPr txBox="1"/>
          <p:nvPr/>
        </p:nvSpPr>
        <p:spPr>
          <a:xfrm>
            <a:off x="5193792" y="3346704"/>
            <a:ext cx="1783080" cy="886968"/>
          </a:xfrm>
          <a:prstGeom prst="rect">
            <a:avLst/>
          </a:prstGeom>
          <a:noFill/>
          <a:ln/>
        </p:spPr>
        <p:txBody>
          <a:bodyPr wrap="square" lIns="25400" tIns="25400" rIns="25400" bIns="25400" rtlCol="0" anchor="ctr"/>
          <a:lstStyle/>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Quote all shortfalls at once</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Cheapest vendor, lead time</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Create PO (App Integration)</a:t>
            </a:r>
            <a:endParaRPr lang="en-US" sz="850" dirty="0"/>
          </a:p>
        </p:txBody>
      </p:sp>
      <p:sp>
        <p:nvSpPr>
          <p:cNvPr id="45" name="Shape 43"/>
          <p:cNvSpPr/>
          <p:nvPr/>
        </p:nvSpPr>
        <p:spPr>
          <a:xfrm>
            <a:off x="7187184" y="2788920"/>
            <a:ext cx="2057400" cy="1554480"/>
          </a:xfrm>
          <a:prstGeom prst="rect">
            <a:avLst/>
          </a:prstGeom>
          <a:solidFill>
            <a:srgbClr val="FFF7ED"/>
          </a:solidFill>
          <a:ln w="12700">
            <a:solidFill>
              <a:srgbClr val="93A8D8"/>
            </a:solidFill>
            <a:prstDash val="solid"/>
          </a:ln>
        </p:spPr>
      </p:sp>
      <p:sp>
        <p:nvSpPr>
          <p:cNvPr id="46" name="Text 44"/>
          <p:cNvSpPr txBox="1"/>
          <p:nvPr/>
        </p:nvSpPr>
        <p:spPr>
          <a:xfrm>
            <a:off x="7232904" y="2816352"/>
            <a:ext cx="1965960" cy="256032"/>
          </a:xfrm>
          <a:prstGeom prst="rect">
            <a:avLst/>
          </a:prstGeom>
          <a:noFill/>
          <a:ln/>
        </p:spPr>
        <p:txBody>
          <a:bodyPr wrap="square" lIns="25400" tIns="25400" rIns="25400" bIns="25400" rtlCol="0" anchor="ctr"/>
          <a:lstStyle/>
          <a:p>
            <a:pPr algn="ctr" indent="0" marL="0">
              <a:buNone/>
            </a:pPr>
            <a:r>
              <a:rPr lang="en-US" sz="1000" b="1" dirty="0">
                <a:solidFill>
                  <a:srgbClr val="6D28D9"/>
                </a:solidFill>
                <a:latin typeface="Calibri" pitchFamily="34" charset="0"/>
                <a:ea typeface="Calibri" pitchFamily="34" charset="-122"/>
                <a:cs typeface="Calibri" pitchFamily="34" charset="-120"/>
              </a:rPr>
              <a:t>3. Budget Agent</a:t>
            </a:r>
            <a:endParaRPr lang="en-US" sz="1000" dirty="0"/>
          </a:p>
        </p:txBody>
      </p:sp>
      <p:sp>
        <p:nvSpPr>
          <p:cNvPr id="47" name="Text 45"/>
          <p:cNvSpPr txBox="1"/>
          <p:nvPr/>
        </p:nvSpPr>
        <p:spPr>
          <a:xfrm>
            <a:off x="7232904" y="3054096"/>
            <a:ext cx="1965960" cy="201168"/>
          </a:xfrm>
          <a:prstGeom prst="rect">
            <a:avLst/>
          </a:prstGeom>
          <a:noFill/>
          <a:ln/>
        </p:spPr>
        <p:txBody>
          <a:bodyPr wrap="square" lIns="25400" tIns="25400" rIns="25400" bIns="25400" rtlCol="0" anchor="ctr"/>
          <a:lstStyle/>
          <a:p>
            <a:pPr algn="ctr" indent="0" marL="0">
              <a:buNone/>
            </a:pPr>
            <a:r>
              <a:rPr lang="en-US" sz="800" dirty="0">
                <a:solidFill>
                  <a:srgbClr val="6D28D9"/>
                </a:solidFill>
                <a:latin typeface="Calibri" pitchFamily="34" charset="0"/>
                <a:ea typeface="Calibri" pitchFamily="34" charset="-122"/>
                <a:cs typeface="Calibri" pitchFamily="34" charset="-120"/>
              </a:rPr>
              <a:t>(Validate)</a:t>
            </a:r>
            <a:endParaRPr lang="en-US" sz="800" dirty="0"/>
          </a:p>
        </p:txBody>
      </p:sp>
      <p:sp>
        <p:nvSpPr>
          <p:cNvPr id="48" name="Shape 46"/>
          <p:cNvSpPr/>
          <p:nvPr/>
        </p:nvSpPr>
        <p:spPr>
          <a:xfrm>
            <a:off x="7278624" y="3310128"/>
            <a:ext cx="1874520" cy="960120"/>
          </a:xfrm>
          <a:prstGeom prst="rect">
            <a:avLst/>
          </a:prstGeom>
          <a:solidFill>
            <a:srgbClr val="FFFFFF"/>
          </a:solidFill>
          <a:ln w="12700">
            <a:solidFill>
              <a:srgbClr val="D6E0F5"/>
            </a:solidFill>
            <a:prstDash val="solid"/>
          </a:ln>
        </p:spPr>
      </p:sp>
      <p:sp>
        <p:nvSpPr>
          <p:cNvPr id="49" name="Text 47"/>
          <p:cNvSpPr txBox="1"/>
          <p:nvPr/>
        </p:nvSpPr>
        <p:spPr>
          <a:xfrm>
            <a:off x="7324344" y="3346704"/>
            <a:ext cx="1783080" cy="886968"/>
          </a:xfrm>
          <a:prstGeom prst="rect">
            <a:avLst/>
          </a:prstGeom>
          <a:noFill/>
          <a:ln/>
        </p:spPr>
        <p:txBody>
          <a:bodyPr wrap="square" lIns="25400" tIns="25400" rIns="25400" bIns="25400" rtlCol="0" anchor="ctr"/>
          <a:lstStyle/>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Budget + tier in one call (BigQuery)</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Report back (never approves)</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Orchestrator starts the approval</a:t>
            </a:r>
            <a:endParaRPr lang="en-US" sz="850" dirty="0"/>
          </a:p>
        </p:txBody>
      </p:sp>
      <p:sp>
        <p:nvSpPr>
          <p:cNvPr id="50" name="Shape 48"/>
          <p:cNvSpPr/>
          <p:nvPr/>
        </p:nvSpPr>
        <p:spPr>
          <a:xfrm>
            <a:off x="6080760" y="2240280"/>
            <a:ext cx="0" cy="320040"/>
          </a:xfrm>
          <a:prstGeom prst="line">
            <a:avLst/>
          </a:prstGeom>
          <a:noFill/>
          <a:ln w="19050">
            <a:solidFill>
              <a:srgbClr val="2563EB"/>
            </a:solidFill>
            <a:prstDash val="solid"/>
            <a:headEnd type="triangle"/>
            <a:tailEnd type="triangle"/>
          </a:ln>
        </p:spPr>
      </p:sp>
      <p:sp>
        <p:nvSpPr>
          <p:cNvPr id="51" name="Shape 49"/>
          <p:cNvSpPr/>
          <p:nvPr/>
        </p:nvSpPr>
        <p:spPr>
          <a:xfrm>
            <a:off x="2834640" y="4526280"/>
            <a:ext cx="6492240" cy="731520"/>
          </a:xfrm>
          <a:prstGeom prst="rect">
            <a:avLst/>
          </a:prstGeom>
          <a:solidFill>
            <a:srgbClr val="EFF4FF"/>
          </a:solidFill>
          <a:ln w="12700">
            <a:solidFill>
              <a:srgbClr val="93A8D8"/>
            </a:solidFill>
            <a:prstDash val="solid"/>
          </a:ln>
        </p:spPr>
      </p:sp>
      <p:sp>
        <p:nvSpPr>
          <p:cNvPr id="52" name="Text 50"/>
          <p:cNvSpPr txBox="1"/>
          <p:nvPr/>
        </p:nvSpPr>
        <p:spPr>
          <a:xfrm>
            <a:off x="2834640" y="4526280"/>
            <a:ext cx="6492240" cy="228600"/>
          </a:xfrm>
          <a:prstGeom prst="rect">
            <a:avLst/>
          </a:prstGeom>
          <a:noFill/>
          <a:ln/>
        </p:spPr>
        <p:txBody>
          <a:bodyPr wrap="square" lIns="25400" tIns="25400" rIns="25400" bIns="25400" rtlCol="0" anchor="ctr"/>
          <a:lstStyle/>
          <a:p>
            <a:pPr algn="ctr" indent="0" marL="0">
              <a:buNone/>
            </a:pPr>
            <a:r>
              <a:rPr lang="en-US" sz="900" b="1" dirty="0">
                <a:solidFill>
                  <a:srgbClr val="1F3A8A"/>
                </a:solidFill>
                <a:latin typeface="Calibri" pitchFamily="34" charset="0"/>
                <a:ea typeface="Calibri" pitchFamily="34" charset="-122"/>
                <a:cs typeface="Calibri" pitchFamily="34" charset="-120"/>
              </a:rPr>
              <a:t>Memory &amp; Knowledge Layer</a:t>
            </a:r>
            <a:endParaRPr lang="en-US" sz="900" dirty="0"/>
          </a:p>
        </p:txBody>
      </p:sp>
      <p:sp>
        <p:nvSpPr>
          <p:cNvPr id="53" name="Shape 51"/>
          <p:cNvSpPr/>
          <p:nvPr/>
        </p:nvSpPr>
        <p:spPr>
          <a:xfrm>
            <a:off x="3017520" y="4754880"/>
            <a:ext cx="1965960" cy="457200"/>
          </a:xfrm>
          <a:prstGeom prst="roundRect">
            <a:avLst>
              <a:gd name="adj" fmla="val 12000"/>
            </a:avLst>
          </a:prstGeom>
          <a:solidFill>
            <a:srgbClr val="FFFFFF"/>
          </a:solidFill>
          <a:ln w="12700">
            <a:solidFill>
              <a:srgbClr val="93A8D8"/>
            </a:solidFill>
            <a:prstDash val="solid"/>
          </a:ln>
        </p:spPr>
      </p:sp>
      <p:sp>
        <p:nvSpPr>
          <p:cNvPr id="54" name="Text 52"/>
          <p:cNvSpPr txBox="1"/>
          <p:nvPr/>
        </p:nvSpPr>
        <p:spPr>
          <a:xfrm>
            <a:off x="3063240" y="4791456"/>
            <a:ext cx="1874520" cy="22860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Approval Policy (BigQuery)</a:t>
            </a:r>
            <a:endParaRPr lang="en-US" sz="800" dirty="0"/>
          </a:p>
        </p:txBody>
      </p:sp>
      <p:sp>
        <p:nvSpPr>
          <p:cNvPr id="55" name="Text 53"/>
          <p:cNvSpPr txBox="1"/>
          <p:nvPr/>
        </p:nvSpPr>
        <p:spPr>
          <a:xfrm>
            <a:off x="3063240" y="4983480"/>
            <a:ext cx="1874520" cy="205740"/>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Tiers, limits, approver roles</a:t>
            </a:r>
            <a:endParaRPr lang="en-US" sz="800" dirty="0"/>
          </a:p>
        </p:txBody>
      </p:sp>
      <p:sp>
        <p:nvSpPr>
          <p:cNvPr id="56" name="Shape 54"/>
          <p:cNvSpPr/>
          <p:nvPr/>
        </p:nvSpPr>
        <p:spPr>
          <a:xfrm>
            <a:off x="5074920" y="4754880"/>
            <a:ext cx="1965960" cy="457200"/>
          </a:xfrm>
          <a:prstGeom prst="roundRect">
            <a:avLst>
              <a:gd name="adj" fmla="val 12000"/>
            </a:avLst>
          </a:prstGeom>
          <a:solidFill>
            <a:srgbClr val="FFFFFF"/>
          </a:solidFill>
          <a:ln w="12700">
            <a:solidFill>
              <a:srgbClr val="93A8D8"/>
            </a:solidFill>
            <a:prstDash val="solid"/>
          </a:ln>
        </p:spPr>
      </p:sp>
      <p:sp>
        <p:nvSpPr>
          <p:cNvPr id="57" name="Text 55"/>
          <p:cNvSpPr txBox="1"/>
          <p:nvPr/>
        </p:nvSpPr>
        <p:spPr>
          <a:xfrm>
            <a:off x="5120640" y="4791456"/>
            <a:ext cx="1874520" cy="22860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Agent Engine Sessions</a:t>
            </a:r>
            <a:endParaRPr lang="en-US" sz="800" dirty="0"/>
          </a:p>
        </p:txBody>
      </p:sp>
      <p:sp>
        <p:nvSpPr>
          <p:cNvPr id="58" name="Text 56"/>
          <p:cNvSpPr txBox="1"/>
          <p:nvPr/>
        </p:nvSpPr>
        <p:spPr>
          <a:xfrm>
            <a:off x="5120640" y="4983480"/>
            <a:ext cx="1874520" cy="205740"/>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Chat state &amp; pending approvals</a:t>
            </a:r>
            <a:endParaRPr lang="en-US" sz="800" dirty="0"/>
          </a:p>
        </p:txBody>
      </p:sp>
      <p:sp>
        <p:nvSpPr>
          <p:cNvPr id="59" name="Shape 57"/>
          <p:cNvSpPr/>
          <p:nvPr/>
        </p:nvSpPr>
        <p:spPr>
          <a:xfrm>
            <a:off x="7132320" y="4754880"/>
            <a:ext cx="1965960" cy="457200"/>
          </a:xfrm>
          <a:prstGeom prst="roundRect">
            <a:avLst>
              <a:gd name="adj" fmla="val 12000"/>
            </a:avLst>
          </a:prstGeom>
          <a:solidFill>
            <a:srgbClr val="FFFFFF"/>
          </a:solidFill>
          <a:ln w="12700">
            <a:solidFill>
              <a:srgbClr val="93A8D8"/>
            </a:solidFill>
            <a:prstDash val="solid"/>
          </a:ln>
        </p:spPr>
      </p:sp>
      <p:sp>
        <p:nvSpPr>
          <p:cNvPr id="60" name="Text 58"/>
          <p:cNvSpPr txBox="1"/>
          <p:nvPr/>
        </p:nvSpPr>
        <p:spPr>
          <a:xfrm>
            <a:off x="7178040" y="4791456"/>
            <a:ext cx="1874520" cy="22860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Audit Log (BigQuery)</a:t>
            </a:r>
            <a:endParaRPr lang="en-US" sz="800" dirty="0"/>
          </a:p>
        </p:txBody>
      </p:sp>
      <p:sp>
        <p:nvSpPr>
          <p:cNvPr id="61" name="Text 59"/>
          <p:cNvSpPr txBox="1"/>
          <p:nvPr/>
        </p:nvSpPr>
        <p:spPr>
          <a:xfrm>
            <a:off x="7178040" y="4983480"/>
            <a:ext cx="1874520" cy="205740"/>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Every governed action</a:t>
            </a:r>
            <a:endParaRPr lang="en-US" sz="800" dirty="0"/>
          </a:p>
        </p:txBody>
      </p:sp>
      <p:sp>
        <p:nvSpPr>
          <p:cNvPr id="62" name="Shape 60"/>
          <p:cNvSpPr/>
          <p:nvPr/>
        </p:nvSpPr>
        <p:spPr>
          <a:xfrm>
            <a:off x="2834640" y="5321808"/>
            <a:ext cx="6492240" cy="640080"/>
          </a:xfrm>
          <a:prstGeom prst="rect">
            <a:avLst/>
          </a:prstGeom>
          <a:solidFill>
            <a:srgbClr val="EFF4FF"/>
          </a:solidFill>
          <a:ln w="12700">
            <a:solidFill>
              <a:srgbClr val="93A8D8"/>
            </a:solidFill>
            <a:prstDash val="solid"/>
          </a:ln>
        </p:spPr>
      </p:sp>
      <p:sp>
        <p:nvSpPr>
          <p:cNvPr id="63" name="Text 61"/>
          <p:cNvSpPr txBox="1"/>
          <p:nvPr/>
        </p:nvSpPr>
        <p:spPr>
          <a:xfrm>
            <a:off x="2834640" y="5321808"/>
            <a:ext cx="6492240" cy="201168"/>
          </a:xfrm>
          <a:prstGeom prst="rect">
            <a:avLst/>
          </a:prstGeom>
          <a:noFill/>
          <a:ln/>
        </p:spPr>
        <p:txBody>
          <a:bodyPr wrap="square" lIns="25400" tIns="25400" rIns="25400" bIns="25400" rtlCol="0" anchor="ctr"/>
          <a:lstStyle/>
          <a:p>
            <a:pPr algn="ctr" indent="0" marL="0">
              <a:buNone/>
            </a:pPr>
            <a:r>
              <a:rPr lang="en-US" sz="900" b="1" dirty="0">
                <a:solidFill>
                  <a:srgbClr val="1F3A8A"/>
                </a:solidFill>
                <a:latin typeface="Calibri" pitchFamily="34" charset="0"/>
                <a:ea typeface="Calibri" pitchFamily="34" charset="-122"/>
                <a:cs typeface="Calibri" pitchFamily="34" charset="-120"/>
              </a:rPr>
              <a:t>Google Cloud Supporting Services</a:t>
            </a:r>
            <a:endParaRPr lang="en-US" sz="900" dirty="0"/>
          </a:p>
        </p:txBody>
      </p:sp>
      <p:sp>
        <p:nvSpPr>
          <p:cNvPr id="64" name="Shape 62"/>
          <p:cNvSpPr/>
          <p:nvPr/>
        </p:nvSpPr>
        <p:spPr>
          <a:xfrm>
            <a:off x="2926080" y="5513832"/>
            <a:ext cx="987552" cy="457200"/>
          </a:xfrm>
          <a:prstGeom prst="roundRect">
            <a:avLst>
              <a:gd name="adj" fmla="val 12000"/>
            </a:avLst>
          </a:prstGeom>
          <a:solidFill>
            <a:srgbClr val="FFFFFF"/>
          </a:solidFill>
          <a:ln w="12700">
            <a:solidFill>
              <a:srgbClr val="93A8D8"/>
            </a:solidFill>
            <a:prstDash val="solid"/>
          </a:ln>
        </p:spPr>
      </p:sp>
      <p:sp>
        <p:nvSpPr>
          <p:cNvPr id="65" name="Text 63"/>
          <p:cNvSpPr txBox="1"/>
          <p:nvPr/>
        </p:nvSpPr>
        <p:spPr>
          <a:xfrm>
            <a:off x="2971800" y="5550408"/>
            <a:ext cx="896112" cy="22860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IAM</a:t>
            </a:r>
            <a:endParaRPr lang="en-US" sz="700" dirty="0"/>
          </a:p>
        </p:txBody>
      </p:sp>
      <p:sp>
        <p:nvSpPr>
          <p:cNvPr id="66" name="Text 64"/>
          <p:cNvSpPr txBox="1"/>
          <p:nvPr/>
        </p:nvSpPr>
        <p:spPr>
          <a:xfrm>
            <a:off x="2971800" y="5742432"/>
            <a:ext cx="896112" cy="205740"/>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Access Control</a:t>
            </a:r>
            <a:endParaRPr lang="en-US" sz="800" dirty="0"/>
          </a:p>
        </p:txBody>
      </p:sp>
      <p:sp>
        <p:nvSpPr>
          <p:cNvPr id="67" name="Shape 65"/>
          <p:cNvSpPr/>
          <p:nvPr/>
        </p:nvSpPr>
        <p:spPr>
          <a:xfrm>
            <a:off x="3977640" y="5513832"/>
            <a:ext cx="987552" cy="457200"/>
          </a:xfrm>
          <a:prstGeom prst="roundRect">
            <a:avLst>
              <a:gd name="adj" fmla="val 12000"/>
            </a:avLst>
          </a:prstGeom>
          <a:solidFill>
            <a:srgbClr val="FFFFFF"/>
          </a:solidFill>
          <a:ln w="12700">
            <a:solidFill>
              <a:srgbClr val="93A8D8"/>
            </a:solidFill>
            <a:prstDash val="solid"/>
          </a:ln>
        </p:spPr>
      </p:sp>
      <p:sp>
        <p:nvSpPr>
          <p:cNvPr id="68" name="Text 66"/>
          <p:cNvSpPr txBox="1"/>
          <p:nvPr/>
        </p:nvSpPr>
        <p:spPr>
          <a:xfrm>
            <a:off x="4023360" y="5550408"/>
            <a:ext cx="896112" cy="22860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Secret Manager</a:t>
            </a:r>
            <a:endParaRPr lang="en-US" sz="700" dirty="0"/>
          </a:p>
        </p:txBody>
      </p:sp>
      <p:sp>
        <p:nvSpPr>
          <p:cNvPr id="69" name="Text 67"/>
          <p:cNvSpPr txBox="1"/>
          <p:nvPr/>
        </p:nvSpPr>
        <p:spPr>
          <a:xfrm>
            <a:off x="4023360" y="5742432"/>
            <a:ext cx="896112" cy="205740"/>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Credentials</a:t>
            </a:r>
            <a:endParaRPr lang="en-US" sz="800" dirty="0"/>
          </a:p>
        </p:txBody>
      </p:sp>
      <p:sp>
        <p:nvSpPr>
          <p:cNvPr id="70" name="Shape 68"/>
          <p:cNvSpPr/>
          <p:nvPr/>
        </p:nvSpPr>
        <p:spPr>
          <a:xfrm>
            <a:off x="5029200" y="5513832"/>
            <a:ext cx="987552" cy="457200"/>
          </a:xfrm>
          <a:prstGeom prst="roundRect">
            <a:avLst>
              <a:gd name="adj" fmla="val 12000"/>
            </a:avLst>
          </a:prstGeom>
          <a:solidFill>
            <a:srgbClr val="FFFFFF"/>
          </a:solidFill>
          <a:ln w="12700">
            <a:solidFill>
              <a:srgbClr val="93A8D8"/>
            </a:solidFill>
            <a:prstDash val="solid"/>
          </a:ln>
        </p:spPr>
      </p:sp>
      <p:sp>
        <p:nvSpPr>
          <p:cNvPr id="71" name="Text 69"/>
          <p:cNvSpPr txBox="1"/>
          <p:nvPr/>
        </p:nvSpPr>
        <p:spPr>
          <a:xfrm>
            <a:off x="5074920" y="5550408"/>
            <a:ext cx="896112" cy="22860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Cloud Logging</a:t>
            </a:r>
            <a:endParaRPr lang="en-US" sz="700" dirty="0"/>
          </a:p>
        </p:txBody>
      </p:sp>
      <p:sp>
        <p:nvSpPr>
          <p:cNvPr id="72" name="Text 70"/>
          <p:cNvSpPr txBox="1"/>
          <p:nvPr/>
        </p:nvSpPr>
        <p:spPr>
          <a:xfrm>
            <a:off x="5074920" y="5742432"/>
            <a:ext cx="896112" cy="205740"/>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Audit Trail</a:t>
            </a:r>
            <a:endParaRPr lang="en-US" sz="800" dirty="0"/>
          </a:p>
        </p:txBody>
      </p:sp>
      <p:sp>
        <p:nvSpPr>
          <p:cNvPr id="73" name="Shape 71"/>
          <p:cNvSpPr/>
          <p:nvPr/>
        </p:nvSpPr>
        <p:spPr>
          <a:xfrm>
            <a:off x="6080760" y="5513832"/>
            <a:ext cx="987552" cy="457200"/>
          </a:xfrm>
          <a:prstGeom prst="roundRect">
            <a:avLst>
              <a:gd name="adj" fmla="val 12000"/>
            </a:avLst>
          </a:prstGeom>
          <a:solidFill>
            <a:srgbClr val="FFFFFF"/>
          </a:solidFill>
          <a:ln w="12700">
            <a:solidFill>
              <a:srgbClr val="93A8D8"/>
            </a:solidFill>
            <a:prstDash val="solid"/>
          </a:ln>
        </p:spPr>
      </p:sp>
      <p:sp>
        <p:nvSpPr>
          <p:cNvPr id="74" name="Text 72"/>
          <p:cNvSpPr txBox="1"/>
          <p:nvPr/>
        </p:nvSpPr>
        <p:spPr>
          <a:xfrm>
            <a:off x="6126480" y="5550408"/>
            <a:ext cx="896112" cy="22860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Cloud Monitoring</a:t>
            </a:r>
            <a:endParaRPr lang="en-US" sz="700" dirty="0"/>
          </a:p>
        </p:txBody>
      </p:sp>
      <p:sp>
        <p:nvSpPr>
          <p:cNvPr id="75" name="Text 73"/>
          <p:cNvSpPr txBox="1"/>
          <p:nvPr/>
        </p:nvSpPr>
        <p:spPr>
          <a:xfrm>
            <a:off x="6126480" y="5742432"/>
            <a:ext cx="896112" cy="205740"/>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Observability</a:t>
            </a:r>
            <a:endParaRPr lang="en-US" sz="800" dirty="0"/>
          </a:p>
        </p:txBody>
      </p:sp>
      <p:sp>
        <p:nvSpPr>
          <p:cNvPr id="76" name="Shape 74"/>
          <p:cNvSpPr/>
          <p:nvPr/>
        </p:nvSpPr>
        <p:spPr>
          <a:xfrm>
            <a:off x="7132320" y="5513832"/>
            <a:ext cx="987552" cy="457200"/>
          </a:xfrm>
          <a:prstGeom prst="roundRect">
            <a:avLst>
              <a:gd name="adj" fmla="val 12000"/>
            </a:avLst>
          </a:prstGeom>
          <a:solidFill>
            <a:srgbClr val="FFFFFF"/>
          </a:solidFill>
          <a:ln w="12700">
            <a:solidFill>
              <a:srgbClr val="93A8D8"/>
            </a:solidFill>
            <a:prstDash val="solid"/>
          </a:ln>
        </p:spPr>
      </p:sp>
      <p:sp>
        <p:nvSpPr>
          <p:cNvPr id="77" name="Text 75"/>
          <p:cNvSpPr txBox="1"/>
          <p:nvPr/>
        </p:nvSpPr>
        <p:spPr>
          <a:xfrm>
            <a:off x="7178040" y="5550408"/>
            <a:ext cx="896112" cy="22860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Cloud Trace</a:t>
            </a:r>
            <a:endParaRPr lang="en-US" sz="700" dirty="0"/>
          </a:p>
        </p:txBody>
      </p:sp>
      <p:sp>
        <p:nvSpPr>
          <p:cNvPr id="78" name="Text 76"/>
          <p:cNvSpPr txBox="1"/>
          <p:nvPr/>
        </p:nvSpPr>
        <p:spPr>
          <a:xfrm>
            <a:off x="7178040" y="5742432"/>
            <a:ext cx="896112" cy="205740"/>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Tracing</a:t>
            </a:r>
            <a:endParaRPr lang="en-US" sz="800" dirty="0"/>
          </a:p>
        </p:txBody>
      </p:sp>
      <p:sp>
        <p:nvSpPr>
          <p:cNvPr id="79" name="Shape 77"/>
          <p:cNvSpPr/>
          <p:nvPr/>
        </p:nvSpPr>
        <p:spPr>
          <a:xfrm>
            <a:off x="8183880" y="5513832"/>
            <a:ext cx="987552" cy="457200"/>
          </a:xfrm>
          <a:prstGeom prst="roundRect">
            <a:avLst>
              <a:gd name="adj" fmla="val 12000"/>
            </a:avLst>
          </a:prstGeom>
          <a:solidFill>
            <a:srgbClr val="FFFFFF"/>
          </a:solidFill>
          <a:ln w="12700">
            <a:solidFill>
              <a:srgbClr val="93A8D8"/>
            </a:solidFill>
            <a:prstDash val="solid"/>
          </a:ln>
        </p:spPr>
      </p:sp>
      <p:sp>
        <p:nvSpPr>
          <p:cNvPr id="80" name="Text 78"/>
          <p:cNvSpPr txBox="1"/>
          <p:nvPr/>
        </p:nvSpPr>
        <p:spPr>
          <a:xfrm>
            <a:off x="8229600" y="5550408"/>
            <a:ext cx="896112" cy="22860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Model Armor</a:t>
            </a:r>
            <a:endParaRPr lang="en-US" sz="700" dirty="0"/>
          </a:p>
        </p:txBody>
      </p:sp>
      <p:sp>
        <p:nvSpPr>
          <p:cNvPr id="81" name="Text 79"/>
          <p:cNvSpPr txBox="1"/>
          <p:nvPr/>
        </p:nvSpPr>
        <p:spPr>
          <a:xfrm>
            <a:off x="8229600" y="5742432"/>
            <a:ext cx="896112" cy="205740"/>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Safety Filtering</a:t>
            </a:r>
            <a:endParaRPr lang="en-US" sz="800" dirty="0"/>
          </a:p>
        </p:txBody>
      </p:sp>
      <p:sp>
        <p:nvSpPr>
          <p:cNvPr id="82" name="Shape 80"/>
          <p:cNvSpPr/>
          <p:nvPr/>
        </p:nvSpPr>
        <p:spPr>
          <a:xfrm>
            <a:off x="9555480" y="1371600"/>
            <a:ext cx="274320" cy="4206240"/>
          </a:xfrm>
          <a:prstGeom prst="roundRect">
            <a:avLst>
              <a:gd name="adj" fmla="val 20000"/>
            </a:avLst>
          </a:prstGeom>
          <a:solidFill>
            <a:srgbClr val="FFFFFF"/>
          </a:solidFill>
          <a:ln w="12700">
            <a:solidFill>
              <a:srgbClr val="2563EB"/>
            </a:solidFill>
            <a:prstDash val="solid"/>
          </a:ln>
        </p:spPr>
      </p:sp>
      <p:sp>
        <p:nvSpPr>
          <p:cNvPr id="83" name="Text 81"/>
          <p:cNvSpPr txBox="1"/>
          <p:nvPr/>
        </p:nvSpPr>
        <p:spPr>
          <a:xfrm>
            <a:off x="9555480" y="1371600"/>
            <a:ext cx="274320" cy="4206240"/>
          </a:xfrm>
          <a:prstGeom prst="rect">
            <a:avLst/>
          </a:prstGeom>
          <a:noFill/>
          <a:ln/>
        </p:spPr>
        <p:txBody>
          <a:bodyPr wrap="square" lIns="0" tIns="0" rIns="0" bIns="0" rtlCol="0" anchor="ctr" vert="vert270"/>
          <a:lstStyle/>
          <a:p>
            <a:pPr algn="ctr" indent="0" marL="0">
              <a:buNone/>
            </a:pPr>
            <a:r>
              <a:rPr lang="en-US" sz="800" dirty="0">
                <a:solidFill>
                  <a:srgbClr val="2563EB"/>
                </a:solidFill>
                <a:latin typeface="Calibri" pitchFamily="34" charset="0"/>
                <a:ea typeface="Calibri" pitchFamily="34" charset="-122"/>
                <a:cs typeface="Calibri" pitchFamily="34" charset="-120"/>
              </a:rPr>
              <a:t>BigQuery API  |  ADK Application Integration toolset</a:t>
            </a:r>
            <a:endParaRPr lang="en-US" sz="800" dirty="0"/>
          </a:p>
        </p:txBody>
      </p:sp>
      <p:sp>
        <p:nvSpPr>
          <p:cNvPr id="84" name="Shape 82"/>
          <p:cNvSpPr/>
          <p:nvPr/>
        </p:nvSpPr>
        <p:spPr>
          <a:xfrm>
            <a:off x="9326880" y="3017520"/>
            <a:ext cx="228600" cy="0"/>
          </a:xfrm>
          <a:prstGeom prst="line">
            <a:avLst/>
          </a:prstGeom>
          <a:noFill/>
          <a:ln w="19050">
            <a:solidFill>
              <a:srgbClr val="2563EB"/>
            </a:solidFill>
            <a:prstDash val="solid"/>
            <a:headEnd type="triangle"/>
            <a:tailEnd type="triangle"/>
          </a:ln>
        </p:spPr>
      </p:sp>
      <p:sp>
        <p:nvSpPr>
          <p:cNvPr id="85" name="Shape 83"/>
          <p:cNvSpPr/>
          <p:nvPr/>
        </p:nvSpPr>
        <p:spPr>
          <a:xfrm>
            <a:off x="9966960" y="960120"/>
            <a:ext cx="1920240" cy="1828800"/>
          </a:xfrm>
          <a:prstGeom prst="rect">
            <a:avLst/>
          </a:prstGeom>
          <a:solidFill>
            <a:srgbClr val="EFF4FF"/>
          </a:solidFill>
          <a:ln w="12700">
            <a:solidFill>
              <a:srgbClr val="93A8D8"/>
            </a:solidFill>
            <a:prstDash val="solid"/>
          </a:ln>
        </p:spPr>
      </p:sp>
      <p:sp>
        <p:nvSpPr>
          <p:cNvPr id="86" name="Text 84"/>
          <p:cNvSpPr txBox="1"/>
          <p:nvPr/>
        </p:nvSpPr>
        <p:spPr>
          <a:xfrm>
            <a:off x="10012680" y="987552"/>
            <a:ext cx="1828800" cy="256032"/>
          </a:xfrm>
          <a:prstGeom prst="rect">
            <a:avLst/>
          </a:prstGeom>
          <a:noFill/>
          <a:ln/>
        </p:spPr>
        <p:txBody>
          <a:bodyPr wrap="square" lIns="25400" tIns="25400" rIns="25400" bIns="25400" rtlCol="0" anchor="ctr"/>
          <a:lstStyle/>
          <a:p>
            <a:pPr algn="ctr" indent="0" marL="0">
              <a:buNone/>
            </a:pPr>
            <a:r>
              <a:rPr lang="en-US" sz="900" b="1" dirty="0">
                <a:solidFill>
                  <a:srgbClr val="1F3A8A"/>
                </a:solidFill>
                <a:latin typeface="Calibri" pitchFamily="34" charset="0"/>
                <a:ea typeface="Calibri" pitchFamily="34" charset="-122"/>
                <a:cs typeface="Calibri" pitchFamily="34" charset="-120"/>
              </a:rPr>
              <a:t>Google BigQuery (Data)</a:t>
            </a:r>
            <a:endParaRPr lang="en-US" sz="900" dirty="0"/>
          </a:p>
        </p:txBody>
      </p:sp>
      <p:sp>
        <p:nvSpPr>
          <p:cNvPr id="87" name="Shape 85"/>
          <p:cNvSpPr/>
          <p:nvPr/>
        </p:nvSpPr>
        <p:spPr>
          <a:xfrm>
            <a:off x="10058400" y="1280160"/>
            <a:ext cx="1737360" cy="502920"/>
          </a:xfrm>
          <a:prstGeom prst="roundRect">
            <a:avLst>
              <a:gd name="adj" fmla="val 10909"/>
            </a:avLst>
          </a:prstGeom>
          <a:solidFill>
            <a:srgbClr val="FFFFFF"/>
          </a:solidFill>
          <a:ln w="12700">
            <a:solidFill>
              <a:srgbClr val="93A8D8"/>
            </a:solidFill>
            <a:prstDash val="solid"/>
          </a:ln>
        </p:spPr>
      </p:sp>
      <p:sp>
        <p:nvSpPr>
          <p:cNvPr id="88" name="Text 86"/>
          <p:cNvSpPr txBox="1"/>
          <p:nvPr/>
        </p:nvSpPr>
        <p:spPr>
          <a:xfrm>
            <a:off x="10104120" y="1316736"/>
            <a:ext cx="1645920" cy="25146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Stock, Vendors, Budgets</a:t>
            </a:r>
            <a:endParaRPr lang="en-US" sz="800" dirty="0"/>
          </a:p>
        </p:txBody>
      </p:sp>
      <p:sp>
        <p:nvSpPr>
          <p:cNvPr id="89" name="Text 87"/>
          <p:cNvSpPr txBox="1"/>
          <p:nvPr/>
        </p:nvSpPr>
        <p:spPr>
          <a:xfrm>
            <a:off x="10104120" y="1531620"/>
            <a:ext cx="1645920" cy="226314"/>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Tables + views, read &amp; write</a:t>
            </a:r>
            <a:endParaRPr lang="en-US" sz="800" dirty="0"/>
          </a:p>
        </p:txBody>
      </p:sp>
      <p:sp>
        <p:nvSpPr>
          <p:cNvPr id="90" name="Shape 88"/>
          <p:cNvSpPr/>
          <p:nvPr/>
        </p:nvSpPr>
        <p:spPr>
          <a:xfrm>
            <a:off x="10058400" y="1847088"/>
            <a:ext cx="1737360" cy="502920"/>
          </a:xfrm>
          <a:prstGeom prst="roundRect">
            <a:avLst>
              <a:gd name="adj" fmla="val 10909"/>
            </a:avLst>
          </a:prstGeom>
          <a:solidFill>
            <a:srgbClr val="FFFFFF"/>
          </a:solidFill>
          <a:ln w="12700">
            <a:solidFill>
              <a:srgbClr val="93A8D8"/>
            </a:solidFill>
            <a:prstDash val="solid"/>
          </a:ln>
        </p:spPr>
      </p:sp>
      <p:sp>
        <p:nvSpPr>
          <p:cNvPr id="91" name="Text 89"/>
          <p:cNvSpPr txBox="1"/>
          <p:nvPr/>
        </p:nvSpPr>
        <p:spPr>
          <a:xfrm>
            <a:off x="10104120" y="1883664"/>
            <a:ext cx="1645920" cy="25146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Approval Policy &amp; Audit</a:t>
            </a:r>
            <a:endParaRPr lang="en-US" sz="800" dirty="0"/>
          </a:p>
        </p:txBody>
      </p:sp>
      <p:sp>
        <p:nvSpPr>
          <p:cNvPr id="92" name="Text 90"/>
          <p:cNvSpPr txBox="1"/>
          <p:nvPr/>
        </p:nvSpPr>
        <p:spPr>
          <a:xfrm>
            <a:off x="10104120" y="2098548"/>
            <a:ext cx="1645920" cy="226314"/>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Tiers, approver emails, log</a:t>
            </a:r>
            <a:endParaRPr lang="en-US" sz="800" dirty="0"/>
          </a:p>
        </p:txBody>
      </p:sp>
      <p:sp>
        <p:nvSpPr>
          <p:cNvPr id="93" name="Shape 91"/>
          <p:cNvSpPr/>
          <p:nvPr/>
        </p:nvSpPr>
        <p:spPr>
          <a:xfrm>
            <a:off x="9966960" y="2926080"/>
            <a:ext cx="1920240" cy="1828800"/>
          </a:xfrm>
          <a:prstGeom prst="rect">
            <a:avLst/>
          </a:prstGeom>
          <a:solidFill>
            <a:srgbClr val="EFF4FF"/>
          </a:solidFill>
          <a:ln w="12700">
            <a:solidFill>
              <a:srgbClr val="93A8D8"/>
            </a:solidFill>
            <a:prstDash val="solid"/>
          </a:ln>
        </p:spPr>
      </p:sp>
      <p:sp>
        <p:nvSpPr>
          <p:cNvPr id="94" name="Text 92"/>
          <p:cNvSpPr txBox="1"/>
          <p:nvPr/>
        </p:nvSpPr>
        <p:spPr>
          <a:xfrm>
            <a:off x="10012680" y="2953512"/>
            <a:ext cx="1828800" cy="256032"/>
          </a:xfrm>
          <a:prstGeom prst="rect">
            <a:avLst/>
          </a:prstGeom>
          <a:noFill/>
          <a:ln/>
        </p:spPr>
        <p:txBody>
          <a:bodyPr wrap="square" lIns="25400" tIns="25400" rIns="25400" bIns="25400" rtlCol="0" anchor="ctr"/>
          <a:lstStyle/>
          <a:p>
            <a:pPr algn="ctr" indent="0" marL="0">
              <a:buNone/>
            </a:pPr>
            <a:r>
              <a:rPr lang="en-US" sz="900" b="1" dirty="0">
                <a:solidFill>
                  <a:srgbClr val="1F3A8A"/>
                </a:solidFill>
                <a:latin typeface="Calibri" pitchFamily="34" charset="0"/>
                <a:ea typeface="Calibri" pitchFamily="34" charset="-122"/>
                <a:cs typeface="Calibri" pitchFamily="34" charset="-120"/>
              </a:rPr>
              <a:t>Application Integration</a:t>
            </a:r>
            <a:endParaRPr lang="en-US" sz="900" dirty="0"/>
          </a:p>
        </p:txBody>
      </p:sp>
      <p:sp>
        <p:nvSpPr>
          <p:cNvPr id="95" name="Shape 93"/>
          <p:cNvSpPr/>
          <p:nvPr/>
        </p:nvSpPr>
        <p:spPr>
          <a:xfrm>
            <a:off x="10058400" y="3246120"/>
            <a:ext cx="1737360" cy="502920"/>
          </a:xfrm>
          <a:prstGeom prst="roundRect">
            <a:avLst>
              <a:gd name="adj" fmla="val 10909"/>
            </a:avLst>
          </a:prstGeom>
          <a:solidFill>
            <a:srgbClr val="FFFFFF"/>
          </a:solidFill>
          <a:ln w="12700">
            <a:solidFill>
              <a:srgbClr val="93A8D8"/>
            </a:solidFill>
            <a:prstDash val="solid"/>
          </a:ln>
        </p:spPr>
      </p:sp>
      <p:sp>
        <p:nvSpPr>
          <p:cNvPr id="96" name="Text 94"/>
          <p:cNvSpPr txBox="1"/>
          <p:nvPr/>
        </p:nvSpPr>
        <p:spPr>
          <a:xfrm>
            <a:off x="10104120" y="3282696"/>
            <a:ext cx="1645920" cy="25146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create_purchase_order</a:t>
            </a:r>
            <a:endParaRPr lang="en-US" sz="800" dirty="0"/>
          </a:p>
        </p:txBody>
      </p:sp>
      <p:sp>
        <p:nvSpPr>
          <p:cNvPr id="97" name="Text 95"/>
          <p:cNvSpPr txBox="1"/>
          <p:nvPr/>
        </p:nvSpPr>
        <p:spPr>
          <a:xfrm>
            <a:off x="10104120" y="3497580"/>
            <a:ext cx="1645920" cy="226314"/>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API trigger: creates the PO</a:t>
            </a:r>
            <a:endParaRPr lang="en-US" sz="800" dirty="0"/>
          </a:p>
        </p:txBody>
      </p:sp>
      <p:sp>
        <p:nvSpPr>
          <p:cNvPr id="98" name="Shape 96"/>
          <p:cNvSpPr/>
          <p:nvPr/>
        </p:nvSpPr>
        <p:spPr>
          <a:xfrm>
            <a:off x="10058400" y="3813048"/>
            <a:ext cx="1737360" cy="502920"/>
          </a:xfrm>
          <a:prstGeom prst="roundRect">
            <a:avLst>
              <a:gd name="adj" fmla="val 10909"/>
            </a:avLst>
          </a:prstGeom>
          <a:solidFill>
            <a:srgbClr val="FFFFFF"/>
          </a:solidFill>
          <a:ln w="12700">
            <a:solidFill>
              <a:srgbClr val="93A8D8"/>
            </a:solidFill>
            <a:prstDash val="solid"/>
          </a:ln>
        </p:spPr>
      </p:sp>
      <p:sp>
        <p:nvSpPr>
          <p:cNvPr id="99" name="Text 97"/>
          <p:cNvSpPr txBox="1"/>
          <p:nvPr/>
        </p:nvSpPr>
        <p:spPr>
          <a:xfrm>
            <a:off x="10104120" y="3849624"/>
            <a:ext cx="1645920" cy="25146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request_approval</a:t>
            </a:r>
            <a:endParaRPr lang="en-US" sz="800" dirty="0"/>
          </a:p>
        </p:txBody>
      </p:sp>
      <p:sp>
        <p:nvSpPr>
          <p:cNvPr id="100" name="Text 98"/>
          <p:cNvSpPr txBox="1"/>
          <p:nvPr/>
        </p:nvSpPr>
        <p:spPr>
          <a:xfrm>
            <a:off x="10104120" y="4064508"/>
            <a:ext cx="1645920" cy="226314"/>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Approval task: Approve / Reject email</a:t>
            </a:r>
            <a:endParaRPr lang="en-US" sz="800" dirty="0"/>
          </a:p>
        </p:txBody>
      </p:sp>
      <p:sp>
        <p:nvSpPr>
          <p:cNvPr id="101" name="Shape 99"/>
          <p:cNvSpPr/>
          <p:nvPr/>
        </p:nvSpPr>
        <p:spPr>
          <a:xfrm>
            <a:off x="9966960" y="4892040"/>
            <a:ext cx="1920240" cy="1143000"/>
          </a:xfrm>
          <a:prstGeom prst="rect">
            <a:avLst/>
          </a:prstGeom>
          <a:solidFill>
            <a:srgbClr val="EFF4FF"/>
          </a:solidFill>
          <a:ln w="12700">
            <a:solidFill>
              <a:srgbClr val="93A8D8"/>
            </a:solidFill>
            <a:prstDash val="solid"/>
          </a:ln>
        </p:spPr>
      </p:sp>
      <p:sp>
        <p:nvSpPr>
          <p:cNvPr id="102" name="Text 100"/>
          <p:cNvSpPr txBox="1"/>
          <p:nvPr/>
        </p:nvSpPr>
        <p:spPr>
          <a:xfrm>
            <a:off x="10012680" y="4919472"/>
            <a:ext cx="1828800" cy="256032"/>
          </a:xfrm>
          <a:prstGeom prst="rect">
            <a:avLst/>
          </a:prstGeom>
          <a:noFill/>
          <a:ln/>
        </p:spPr>
        <p:txBody>
          <a:bodyPr wrap="square" lIns="25400" tIns="25400" rIns="25400" bIns="25400" rtlCol="0" anchor="ctr"/>
          <a:lstStyle/>
          <a:p>
            <a:pPr algn="ctr" indent="0" marL="0">
              <a:buNone/>
            </a:pPr>
            <a:r>
              <a:rPr lang="en-US" sz="900" b="1" dirty="0">
                <a:solidFill>
                  <a:srgbClr val="1F3A8A"/>
                </a:solidFill>
                <a:latin typeface="Calibri" pitchFamily="34" charset="0"/>
                <a:ea typeface="Calibri" pitchFamily="34" charset="-122"/>
                <a:cs typeface="Calibri" pitchFamily="34" charset="-120"/>
              </a:rPr>
              <a:t>LLM &amp; AI Framework</a:t>
            </a:r>
            <a:endParaRPr lang="en-US" sz="900" dirty="0"/>
          </a:p>
        </p:txBody>
      </p:sp>
      <p:sp>
        <p:nvSpPr>
          <p:cNvPr id="103" name="Shape 101"/>
          <p:cNvSpPr/>
          <p:nvPr/>
        </p:nvSpPr>
        <p:spPr>
          <a:xfrm>
            <a:off x="10058400" y="5212080"/>
            <a:ext cx="1737360" cy="502920"/>
          </a:xfrm>
          <a:prstGeom prst="roundRect">
            <a:avLst>
              <a:gd name="adj" fmla="val 10909"/>
            </a:avLst>
          </a:prstGeom>
          <a:solidFill>
            <a:srgbClr val="FFFFFF"/>
          </a:solidFill>
          <a:ln w="12700">
            <a:solidFill>
              <a:srgbClr val="93A8D8"/>
            </a:solidFill>
            <a:prstDash val="solid"/>
          </a:ln>
        </p:spPr>
      </p:sp>
      <p:sp>
        <p:nvSpPr>
          <p:cNvPr id="104" name="Text 102"/>
          <p:cNvSpPr txBox="1"/>
          <p:nvPr/>
        </p:nvSpPr>
        <p:spPr>
          <a:xfrm>
            <a:off x="10104120" y="5248656"/>
            <a:ext cx="1645920" cy="25146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Gemini  |  ADK 2.x</a:t>
            </a:r>
            <a:endParaRPr lang="en-US" sz="800" dirty="0"/>
          </a:p>
        </p:txBody>
      </p:sp>
      <p:sp>
        <p:nvSpPr>
          <p:cNvPr id="105" name="Text 103"/>
          <p:cNvSpPr txBox="1"/>
          <p:nvPr/>
        </p:nvSpPr>
        <p:spPr>
          <a:xfrm>
            <a:off x="10104120" y="5463540"/>
            <a:ext cx="1645920" cy="226314"/>
          </a:xfrm>
          <a:prstGeom prst="rect">
            <a:avLst/>
          </a:prstGeom>
          <a:noFill/>
          <a:ln/>
        </p:spPr>
        <p:txBody>
          <a:bodyPr wrap="square" lIns="25400" tIns="25400" rIns="25400" bIns="25400" rtlCol="0" anchor="t"/>
          <a:lstStyle/>
          <a:p>
            <a:pPr algn="ctr" indent="0" marL="0">
              <a:buNone/>
            </a:pPr>
            <a:r>
              <a:rPr lang="en-US" sz="800" dirty="0">
                <a:solidFill>
                  <a:srgbClr val="64748B"/>
                </a:solidFill>
                <a:latin typeface="Calibri" pitchFamily="34" charset="0"/>
                <a:ea typeface="Calibri" pitchFamily="34" charset="-122"/>
                <a:cs typeface="Calibri" pitchFamily="34" charset="-120"/>
              </a:rPr>
              <a:t>Reasoning &amp; Agent Framework</a:t>
            </a:r>
            <a:endParaRPr lang="en-US" sz="800" dirty="0"/>
          </a:p>
        </p:txBody>
      </p:sp>
      <p:sp>
        <p:nvSpPr>
          <p:cNvPr id="106" name="Shape 104"/>
          <p:cNvSpPr/>
          <p:nvPr/>
        </p:nvSpPr>
        <p:spPr>
          <a:xfrm>
            <a:off x="9829800" y="1828800"/>
            <a:ext cx="137160" cy="0"/>
          </a:xfrm>
          <a:prstGeom prst="line">
            <a:avLst/>
          </a:prstGeom>
          <a:noFill/>
          <a:ln w="19050">
            <a:solidFill>
              <a:srgbClr val="2563EB"/>
            </a:solidFill>
            <a:prstDash val="solid"/>
            <a:headEnd type="triangle"/>
            <a:tailEnd type="triangle"/>
          </a:ln>
        </p:spPr>
      </p:sp>
      <p:sp>
        <p:nvSpPr>
          <p:cNvPr id="107" name="Shape 105"/>
          <p:cNvSpPr/>
          <p:nvPr/>
        </p:nvSpPr>
        <p:spPr>
          <a:xfrm>
            <a:off x="9829800" y="3749040"/>
            <a:ext cx="137160" cy="0"/>
          </a:xfrm>
          <a:prstGeom prst="line">
            <a:avLst/>
          </a:prstGeom>
          <a:noFill/>
          <a:ln w="19050">
            <a:solidFill>
              <a:srgbClr val="2563EB"/>
            </a:solidFill>
            <a:prstDash val="solid"/>
            <a:headEnd type="triangle"/>
            <a:tailEnd type="triangle"/>
          </a:ln>
        </p:spPr>
      </p:sp>
      <p:sp>
        <p:nvSpPr>
          <p:cNvPr id="108" name="Shape 106"/>
          <p:cNvSpPr/>
          <p:nvPr/>
        </p:nvSpPr>
        <p:spPr>
          <a:xfrm>
            <a:off x="9829800" y="5440680"/>
            <a:ext cx="137160" cy="0"/>
          </a:xfrm>
          <a:prstGeom prst="line">
            <a:avLst/>
          </a:prstGeom>
          <a:noFill/>
          <a:ln w="19050">
            <a:solidFill>
              <a:srgbClr val="2563EB"/>
            </a:solidFill>
            <a:prstDash val="solid"/>
            <a:headEnd type="triangle"/>
            <a:tailEnd type="triangle"/>
          </a:ln>
        </p:spPr>
      </p:sp>
      <p:sp>
        <p:nvSpPr>
          <p:cNvPr id="109" name="Text 107"/>
          <p:cNvSpPr txBox="1"/>
          <p:nvPr/>
        </p:nvSpPr>
        <p:spPr>
          <a:xfrm>
            <a:off x="457200" y="6355080"/>
            <a:ext cx="4572000" cy="274320"/>
          </a:xfrm>
          <a:prstGeom prst="rect">
            <a:avLst/>
          </a:prstGeom>
          <a:noFill/>
          <a:ln/>
        </p:spPr>
        <p:txBody>
          <a:bodyPr wrap="square" lIns="25400" tIns="25400" rIns="25400" bIns="2540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HCLTech  |  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Campaign Provisioner</dc:title>
  <dc:subject>PptxGenJS Presentation</dc:subject>
  <dc:creator>PptxGenJS</dc:creator>
  <cp:lastModifiedBy>PptxGenJS</cp:lastModifiedBy>
  <cp:revision>1</cp:revision>
  <dcterms:created xsi:type="dcterms:W3CDTF">2026-10-06T14:25:00Z</dcterms:created>
  <dcterms:modified xsi:type="dcterms:W3CDTF">2026-10-06T14:25:00Z</dcterms:modified>
</cp:coreProperties>
</file>