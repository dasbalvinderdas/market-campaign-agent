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the problem, how the agent works, and the three capability pillars. Fictional demo launch: Spring Launch Event. All data is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BigQuery (dataset launchkit) holds all data: reference data (launches, assets, bundle templates, guests, depots and stock, transit lanes, vendors and offers, planning rules, approval policy, approvers), the computed plan (scenarios, scenario lines, decisions, depot holds, vendor disruptions) and the orders and audit log. The root agent calls the three specialist agents as tools, so it writes every reply on every platform including Gemini Enterprise. Application Integration runs four workflows: create_purchase_order, create_depot_transfer, request_approval (a native Approval task that emails the executive Approve / Reject and waits) and send_launch_update.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LaunchKit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An event procurement agent on BigQuery and Application Integration: one event brief, many vendors, three plain-English options, approval by order size, bulk orders placed automatically</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Product Marketing Manager, Brand Director, VP / CMO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LaunchKit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1E293B"/>
                </a:solidFill>
                <a:latin typeface="Calibri" pitchFamily="34" charset="0"/>
                <a:ea typeface="Calibri" pitchFamily="34" charset="-122"/>
                <a:cs typeface="Calibri" pitchFamily="34" charset="-120"/>
              </a:rPr>
              <a:t>A big event, such as a product launch, needs many different items from many vendors, delivered to guests, venues and sales teams in several regions before a hard deadline. Teams buy item by item, juggle sizes, vendor lead times and surplus stock in different warehouses, and the only question finance sees is "approve this spend?".</a:t>
            </a:r>
            <a:endParaRPr lang="en-US" sz="1500" dirty="0"/>
          </a:p>
          <a:p>
            <a:pPr marL="342900" indent="-342900">
              <a:buSzPct val="100000"/>
              <a:buChar char="•"/>
            </a:pPr>
            <a:r>
              <a:rPr lang="en-US" sz="1500" dirty="0">
                <a:solidFill>
                  <a:srgbClr val="1E293B"/>
                </a:solidFill>
                <a:latin typeface="Calibri" pitchFamily="34" charset="0"/>
                <a:ea typeface="Calibri" pitchFamily="34" charset="-122"/>
                <a:cs typeface="Calibri" pitchFamily="34" charset="-120"/>
              </a:rPr>
              <a:t>Underneath it is still a purchase order, procurement and approval system, but it takes a WHOLE EVENT instead of single items. A central orchestrator turns the brief into a shopping list / Bill of Materials (Brief Analyst), compares many vendors and computes three plain-English options from BigQuery data (Sourcing Planner: buying everything new, use our stock first, buy the rest, certified green option), lets the Product Marketing Manager choose, gets a named executive to sign off above the autopilot limit, and has the orders placed (Fulfilment). Purchase orders, depot transfers, the sign-off email and the tracking update run as Google Application Integration workflows. The orchestrator is the only agent that can authorise spend.</a:t>
            </a:r>
            <a:endParaRPr lang="en-US" sz="15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Deadline-first planning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Every option is costed against the in-hand date: cost, delivery date, safety buffer in hours, risk and carbon are computed from BigQuery, never typed in. Vendor delays re-plan the options in seconds.</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Surplus before new spend</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Spare packaging, folders and adapters in regional depots are reused first, nearest depot first, and held while a sign-off is pending. The rebalance option saves cost and often arrives earlier.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 decision, not a yes / no</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manager picks one of three computed options. Small spend runs on autopilot; above the limit a VP (or the CMO for the largest option) signs off by email. Orders, transfers and the audit trail follow automatically.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LaunchKit Provisioner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Product Marketing</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Manager, Brand Director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Brief</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Options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Sign-off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VP / CMO: Approve / Reject email</a:t>
            </a:r>
            <a:endParaRPr lang="en-US" sz="75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1851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task</a:t>
            </a:r>
            <a:endParaRPr lang="en-US" sz="800" dirty="0"/>
          </a:p>
        </p:txBody>
      </p:sp>
      <p:sp>
        <p:nvSpPr>
          <p:cNvPr id="22" name="Text 20"/>
          <p:cNvSpPr txBox="1"/>
          <p:nvPr/>
        </p:nvSpPr>
        <p:spPr>
          <a:xfrm>
            <a:off x="548640" y="5496916"/>
            <a:ext cx="1463040" cy="20574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Application Integration</a:t>
            </a:r>
            <a:endParaRPr lang="en-US" sz="75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LaunchKit Provisioner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Hello card  •  Coordination  •  3-choices table  •  Sign-off gate (automatic, VP, CMO)  •  Order story &amp; status</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27432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27432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 (called by the root as tools)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Brief Analyst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(Decompose the brief)</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Shopping list (Bill of Materials)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Sizes and plugs from the guest list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Requirement lines per region</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Sourcing Planner</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(Compute 3 options)</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Vendor comparison report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Reuse our own stock first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Price, spare time, pollution</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Fulfilment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(Place the orders)</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PO per vendor line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Warehouse move per surplus line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HTML update + order story</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Scenarios &amp; plan lines (BigQuery)</a:t>
            </a:r>
            <a:endParaRPr lang="en-US" sz="800" dirty="0"/>
          </a:p>
        </p:txBody>
      </p:sp>
      <p:sp>
        <p:nvSpPr>
          <p:cNvPr id="55" name="Text 53"/>
          <p:cNvSpPr txBox="1"/>
          <p:nvPr/>
        </p:nvSpPr>
        <p:spPr>
          <a:xfrm>
            <a:off x="30632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Computed options per request</a:t>
            </a:r>
            <a:endParaRPr lang="en-US" sz="75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Chat state</a:t>
            </a:r>
            <a:endParaRPr lang="en-US" sz="75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Every governed action</a:t>
            </a:r>
            <a:endParaRPr lang="en-US" sz="75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Access Control</a:t>
            </a:r>
            <a:endParaRPr lang="en-US" sz="75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Credentials</a:t>
            </a:r>
            <a:endParaRPr lang="en-US" sz="75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Audit Trail</a:t>
            </a:r>
            <a:endParaRPr lang="en-US" sz="75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Observability</a:t>
            </a:r>
            <a:endParaRPr lang="en-US" sz="75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Tracing</a:t>
            </a:r>
            <a:endParaRPr lang="en-US" sz="75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Safety Filtering</a:t>
            </a:r>
            <a:endParaRPr lang="en-US" sz="75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Application Integration API</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2103120" cy="3063240"/>
          </a:xfrm>
          <a:prstGeom prst="rect">
            <a:avLst/>
          </a:prstGeom>
          <a:solidFill>
            <a:srgbClr val="EFF4FF"/>
          </a:solidFill>
          <a:ln w="12700">
            <a:solidFill>
              <a:srgbClr val="93A8D8"/>
            </a:solidFill>
            <a:prstDash val="solid"/>
          </a:ln>
        </p:spPr>
      </p:sp>
      <p:sp>
        <p:nvSpPr>
          <p:cNvPr id="86" name="Text 84"/>
          <p:cNvSpPr txBox="1"/>
          <p:nvPr/>
        </p:nvSpPr>
        <p:spPr>
          <a:xfrm>
            <a:off x="10012680" y="98755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(launchkit)</a:t>
            </a:r>
            <a:endParaRPr lang="en-US" sz="900" dirty="0"/>
          </a:p>
        </p:txBody>
      </p:sp>
      <p:sp>
        <p:nvSpPr>
          <p:cNvPr id="87" name="Shape 85"/>
          <p:cNvSpPr/>
          <p:nvPr/>
        </p:nvSpPr>
        <p:spPr>
          <a:xfrm>
            <a:off x="10058400" y="1261872"/>
            <a:ext cx="1920240" cy="896112"/>
          </a:xfrm>
          <a:prstGeom prst="roundRect">
            <a:avLst>
              <a:gd name="adj" fmla="val 6122"/>
            </a:avLst>
          </a:prstGeom>
          <a:solidFill>
            <a:srgbClr val="FFFFFF"/>
          </a:solidFill>
          <a:ln w="12700">
            <a:solidFill>
              <a:srgbClr val="93A8D8"/>
            </a:solidFill>
            <a:prstDash val="solid"/>
          </a:ln>
        </p:spPr>
      </p:sp>
      <p:sp>
        <p:nvSpPr>
          <p:cNvPr id="88" name="Text 86"/>
          <p:cNvSpPr txBox="1"/>
          <p:nvPr/>
        </p:nvSpPr>
        <p:spPr>
          <a:xfrm>
            <a:off x="10104120" y="1298448"/>
            <a:ext cx="1828800" cy="40325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Reference data</a:t>
            </a:r>
            <a:endParaRPr lang="en-US" sz="800" dirty="0"/>
          </a:p>
        </p:txBody>
      </p:sp>
      <p:sp>
        <p:nvSpPr>
          <p:cNvPr id="89" name="Text 87"/>
          <p:cNvSpPr txBox="1"/>
          <p:nvPr/>
        </p:nvSpPr>
        <p:spPr>
          <a:xfrm>
            <a:off x="10104120" y="1683045"/>
            <a:ext cx="1828800" cy="448056"/>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launches, assets, bundle_templates, guests, depots, depot_stock, transit_lanes, vendors, vendor_offers, planning_rules, approval_policy, approvers</a:t>
            </a:r>
            <a:endParaRPr lang="en-US" sz="650" dirty="0"/>
          </a:p>
        </p:txBody>
      </p:sp>
      <p:sp>
        <p:nvSpPr>
          <p:cNvPr id="90" name="Shape 88"/>
          <p:cNvSpPr/>
          <p:nvPr/>
        </p:nvSpPr>
        <p:spPr>
          <a:xfrm>
            <a:off x="10058400" y="2203704"/>
            <a:ext cx="1920240" cy="658368"/>
          </a:xfrm>
          <a:prstGeom prst="roundRect">
            <a:avLst>
              <a:gd name="adj" fmla="val 8333"/>
            </a:avLst>
          </a:prstGeom>
          <a:solidFill>
            <a:srgbClr val="FFFFFF"/>
          </a:solidFill>
          <a:ln w="12700">
            <a:solidFill>
              <a:srgbClr val="93A8D8"/>
            </a:solidFill>
            <a:prstDash val="solid"/>
          </a:ln>
        </p:spPr>
      </p:sp>
      <p:sp>
        <p:nvSpPr>
          <p:cNvPr id="91" name="Text 89"/>
          <p:cNvSpPr txBox="1"/>
          <p:nvPr/>
        </p:nvSpPr>
        <p:spPr>
          <a:xfrm>
            <a:off x="10104120" y="2240280"/>
            <a:ext cx="1828800" cy="2962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Plan &amp; decision</a:t>
            </a:r>
            <a:endParaRPr lang="en-US" sz="800" dirty="0"/>
          </a:p>
        </p:txBody>
      </p:sp>
      <p:sp>
        <p:nvSpPr>
          <p:cNvPr id="92" name="Text 90"/>
          <p:cNvSpPr txBox="1"/>
          <p:nvPr/>
        </p:nvSpPr>
        <p:spPr>
          <a:xfrm>
            <a:off x="10104120" y="2513137"/>
            <a:ext cx="1828800" cy="329184"/>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scenarios, scenario_lines, decisions, depot_holds, vendor_disruptions</a:t>
            </a:r>
            <a:endParaRPr lang="en-US" sz="650" dirty="0"/>
          </a:p>
        </p:txBody>
      </p:sp>
      <p:sp>
        <p:nvSpPr>
          <p:cNvPr id="93" name="Shape 91"/>
          <p:cNvSpPr/>
          <p:nvPr/>
        </p:nvSpPr>
        <p:spPr>
          <a:xfrm>
            <a:off x="10058400" y="2907792"/>
            <a:ext cx="1920240" cy="502920"/>
          </a:xfrm>
          <a:prstGeom prst="roundRect">
            <a:avLst>
              <a:gd name="adj" fmla="val 10909"/>
            </a:avLst>
          </a:prstGeom>
          <a:solidFill>
            <a:srgbClr val="FFFFFF"/>
          </a:solidFill>
          <a:ln w="12700">
            <a:solidFill>
              <a:srgbClr val="93A8D8"/>
            </a:solidFill>
            <a:prstDash val="solid"/>
          </a:ln>
        </p:spPr>
      </p:sp>
      <p:sp>
        <p:nvSpPr>
          <p:cNvPr id="94" name="Text 92"/>
          <p:cNvSpPr txBox="1"/>
          <p:nvPr/>
        </p:nvSpPr>
        <p:spPr>
          <a:xfrm>
            <a:off x="10104120" y="294436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Orders &amp; audit</a:t>
            </a:r>
            <a:endParaRPr lang="en-US" sz="800" dirty="0"/>
          </a:p>
        </p:txBody>
      </p:sp>
      <p:sp>
        <p:nvSpPr>
          <p:cNvPr id="95" name="Text 93"/>
          <p:cNvSpPr txBox="1"/>
          <p:nvPr/>
        </p:nvSpPr>
        <p:spPr>
          <a:xfrm>
            <a:off x="10104120" y="314416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purchase_orders, depot_transfers, audit_log</a:t>
            </a:r>
            <a:endParaRPr lang="en-US" sz="650" dirty="0"/>
          </a:p>
        </p:txBody>
      </p:sp>
      <p:sp>
        <p:nvSpPr>
          <p:cNvPr id="96" name="Shape 94"/>
          <p:cNvSpPr/>
          <p:nvPr/>
        </p:nvSpPr>
        <p:spPr>
          <a:xfrm>
            <a:off x="10058400" y="3456432"/>
            <a:ext cx="1920240" cy="502920"/>
          </a:xfrm>
          <a:prstGeom prst="roundRect">
            <a:avLst>
              <a:gd name="adj" fmla="val 10909"/>
            </a:avLst>
          </a:prstGeom>
          <a:solidFill>
            <a:srgbClr val="FFFFFF"/>
          </a:solidFill>
          <a:ln w="12700">
            <a:solidFill>
              <a:srgbClr val="93A8D8"/>
            </a:solidFill>
            <a:prstDash val="solid"/>
          </a:ln>
        </p:spPr>
      </p:sp>
      <p:sp>
        <p:nvSpPr>
          <p:cNvPr id="97" name="Text 95"/>
          <p:cNvSpPr txBox="1"/>
          <p:nvPr/>
        </p:nvSpPr>
        <p:spPr>
          <a:xfrm>
            <a:off x="10104120" y="349300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Views</a:t>
            </a:r>
            <a:endParaRPr lang="en-US" sz="800" dirty="0"/>
          </a:p>
        </p:txBody>
      </p:sp>
      <p:sp>
        <p:nvSpPr>
          <p:cNvPr id="98" name="Text 96"/>
          <p:cNvSpPr txBox="1"/>
          <p:nvPr/>
        </p:nvSpPr>
        <p:spPr>
          <a:xfrm>
            <a:off x="10104120" y="369280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v_depot_available, v_launch_readiness</a:t>
            </a:r>
            <a:endParaRPr lang="en-US" sz="650" dirty="0"/>
          </a:p>
        </p:txBody>
      </p:sp>
      <p:sp>
        <p:nvSpPr>
          <p:cNvPr id="99" name="Shape 97"/>
          <p:cNvSpPr/>
          <p:nvPr/>
        </p:nvSpPr>
        <p:spPr>
          <a:xfrm>
            <a:off x="9966960" y="4114800"/>
            <a:ext cx="2103120" cy="1645920"/>
          </a:xfrm>
          <a:prstGeom prst="rect">
            <a:avLst/>
          </a:prstGeom>
          <a:solidFill>
            <a:srgbClr val="EFF4FF"/>
          </a:solidFill>
          <a:ln w="12700">
            <a:solidFill>
              <a:srgbClr val="93A8D8"/>
            </a:solidFill>
            <a:prstDash val="solid"/>
          </a:ln>
        </p:spPr>
      </p:sp>
      <p:sp>
        <p:nvSpPr>
          <p:cNvPr id="100" name="Text 98"/>
          <p:cNvSpPr txBox="1"/>
          <p:nvPr/>
        </p:nvSpPr>
        <p:spPr>
          <a:xfrm>
            <a:off x="10012680" y="414223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101" name="Shape 99"/>
          <p:cNvSpPr/>
          <p:nvPr/>
        </p:nvSpPr>
        <p:spPr>
          <a:xfrm>
            <a:off x="10058400" y="4416552"/>
            <a:ext cx="1920240" cy="301752"/>
          </a:xfrm>
          <a:prstGeom prst="roundRect">
            <a:avLst>
              <a:gd name="adj" fmla="val 18182"/>
            </a:avLst>
          </a:prstGeom>
          <a:solidFill>
            <a:srgbClr val="FFFFFF"/>
          </a:solidFill>
          <a:ln w="12700">
            <a:solidFill>
              <a:srgbClr val="93A8D8"/>
            </a:solidFill>
            <a:prstDash val="solid"/>
          </a:ln>
        </p:spPr>
      </p:sp>
      <p:sp>
        <p:nvSpPr>
          <p:cNvPr id="102" name="Text 100"/>
          <p:cNvSpPr txBox="1"/>
          <p:nvPr/>
        </p:nvSpPr>
        <p:spPr>
          <a:xfrm>
            <a:off x="10104120" y="4453128"/>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103" name="Shape 101"/>
          <p:cNvSpPr/>
          <p:nvPr/>
        </p:nvSpPr>
        <p:spPr>
          <a:xfrm>
            <a:off x="10058400" y="4754880"/>
            <a:ext cx="1920240" cy="301752"/>
          </a:xfrm>
          <a:prstGeom prst="roundRect">
            <a:avLst>
              <a:gd name="adj" fmla="val 18182"/>
            </a:avLst>
          </a:prstGeom>
          <a:solidFill>
            <a:srgbClr val="FFFFFF"/>
          </a:solidFill>
          <a:ln w="12700">
            <a:solidFill>
              <a:srgbClr val="93A8D8"/>
            </a:solidFill>
            <a:prstDash val="solid"/>
          </a:ln>
        </p:spPr>
      </p:sp>
      <p:sp>
        <p:nvSpPr>
          <p:cNvPr id="104" name="Text 102"/>
          <p:cNvSpPr txBox="1"/>
          <p:nvPr/>
        </p:nvSpPr>
        <p:spPr>
          <a:xfrm>
            <a:off x="10104120" y="4791456"/>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create_depot_transfer</a:t>
            </a:r>
            <a:endParaRPr lang="en-US" sz="800" dirty="0"/>
          </a:p>
        </p:txBody>
      </p:sp>
      <p:sp>
        <p:nvSpPr>
          <p:cNvPr id="105" name="Shape 103"/>
          <p:cNvSpPr/>
          <p:nvPr/>
        </p:nvSpPr>
        <p:spPr>
          <a:xfrm>
            <a:off x="10058400" y="5093208"/>
            <a:ext cx="1920240" cy="301752"/>
          </a:xfrm>
          <a:prstGeom prst="roundRect">
            <a:avLst>
              <a:gd name="adj" fmla="val 18182"/>
            </a:avLst>
          </a:prstGeom>
          <a:solidFill>
            <a:srgbClr val="FFFFFF"/>
          </a:solidFill>
          <a:ln w="12700">
            <a:solidFill>
              <a:srgbClr val="93A8D8"/>
            </a:solidFill>
            <a:prstDash val="solid"/>
          </a:ln>
        </p:spPr>
      </p:sp>
      <p:sp>
        <p:nvSpPr>
          <p:cNvPr id="106" name="Text 104"/>
          <p:cNvSpPr txBox="1"/>
          <p:nvPr/>
        </p:nvSpPr>
        <p:spPr>
          <a:xfrm>
            <a:off x="10104120" y="5129784"/>
            <a:ext cx="1828800" cy="228600"/>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request_approval (Approve / Reject)</a:t>
            </a:r>
            <a:endParaRPr lang="en-US" sz="750" dirty="0"/>
          </a:p>
        </p:txBody>
      </p:sp>
      <p:sp>
        <p:nvSpPr>
          <p:cNvPr id="107" name="Shape 105"/>
          <p:cNvSpPr/>
          <p:nvPr/>
        </p:nvSpPr>
        <p:spPr>
          <a:xfrm>
            <a:off x="10058400" y="5431536"/>
            <a:ext cx="1920240" cy="274320"/>
          </a:xfrm>
          <a:prstGeom prst="roundRect">
            <a:avLst>
              <a:gd name="adj" fmla="val 20000"/>
            </a:avLst>
          </a:prstGeom>
          <a:solidFill>
            <a:srgbClr val="FFFFFF"/>
          </a:solidFill>
          <a:ln w="12700">
            <a:solidFill>
              <a:srgbClr val="93A8D8"/>
            </a:solidFill>
            <a:prstDash val="solid"/>
          </a:ln>
        </p:spPr>
      </p:sp>
      <p:sp>
        <p:nvSpPr>
          <p:cNvPr id="108" name="Text 106"/>
          <p:cNvSpPr txBox="1"/>
          <p:nvPr/>
        </p:nvSpPr>
        <p:spPr>
          <a:xfrm>
            <a:off x="10104120" y="5468112"/>
            <a:ext cx="1828800" cy="201168"/>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send_launch_update</a:t>
            </a:r>
            <a:endParaRPr lang="en-US" sz="750" dirty="0"/>
          </a:p>
        </p:txBody>
      </p:sp>
      <p:sp>
        <p:nvSpPr>
          <p:cNvPr id="109" name="Shape 107"/>
          <p:cNvSpPr/>
          <p:nvPr/>
        </p:nvSpPr>
        <p:spPr>
          <a:xfrm>
            <a:off x="9966960" y="5852160"/>
            <a:ext cx="2103120" cy="457200"/>
          </a:xfrm>
          <a:prstGeom prst="rect">
            <a:avLst/>
          </a:prstGeom>
          <a:solidFill>
            <a:srgbClr val="EFF4FF"/>
          </a:solidFill>
          <a:ln w="12700">
            <a:solidFill>
              <a:srgbClr val="93A8D8"/>
            </a:solidFill>
            <a:prstDash val="solid"/>
          </a:ln>
        </p:spPr>
      </p:sp>
      <p:sp>
        <p:nvSpPr>
          <p:cNvPr id="110" name="Text 108"/>
          <p:cNvSpPr txBox="1"/>
          <p:nvPr/>
        </p:nvSpPr>
        <p:spPr>
          <a:xfrm>
            <a:off x="10012680" y="5870448"/>
            <a:ext cx="20116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Gemini  |  ADK 2.x</a:t>
            </a:r>
            <a:endParaRPr lang="en-US" sz="850" dirty="0"/>
          </a:p>
        </p:txBody>
      </p:sp>
      <p:sp>
        <p:nvSpPr>
          <p:cNvPr id="111" name="Shape 109"/>
          <p:cNvSpPr/>
          <p:nvPr/>
        </p:nvSpPr>
        <p:spPr>
          <a:xfrm>
            <a:off x="9829800" y="2377440"/>
            <a:ext cx="137160" cy="0"/>
          </a:xfrm>
          <a:prstGeom prst="line">
            <a:avLst/>
          </a:prstGeom>
          <a:noFill/>
          <a:ln w="19050">
            <a:solidFill>
              <a:srgbClr val="2563EB"/>
            </a:solidFill>
            <a:prstDash val="solid"/>
            <a:headEnd type="triangle"/>
            <a:tailEnd type="triangle"/>
          </a:ln>
        </p:spPr>
      </p:sp>
      <p:sp>
        <p:nvSpPr>
          <p:cNvPr id="112" name="Shape 110"/>
          <p:cNvSpPr/>
          <p:nvPr/>
        </p:nvSpPr>
        <p:spPr>
          <a:xfrm>
            <a:off x="9829800" y="4754880"/>
            <a:ext cx="137160" cy="0"/>
          </a:xfrm>
          <a:prstGeom prst="line">
            <a:avLst/>
          </a:prstGeom>
          <a:noFill/>
          <a:ln w="19050">
            <a:solidFill>
              <a:srgbClr val="2563EB"/>
            </a:solidFill>
            <a:prstDash val="solid"/>
            <a:headEnd type="triangle"/>
            <a:tailEnd type="triangle"/>
          </a:ln>
        </p:spPr>
      </p:sp>
      <p:sp>
        <p:nvSpPr>
          <p:cNvPr id="113" name="Text 111"/>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LaunchKit Provisioner</dc:title>
  <dc:subject>PptxGenJS Presentation</dc:subject>
  <dc:creator>PptxGenJS</dc:creator>
  <cp:lastModifiedBy>PptxGenJS</cp:lastModifiedBy>
  <cp:revision>1</cp:revision>
  <dcterms:created xsi:type="dcterms:W3CDTF">2026-10-12T16:53:32Z</dcterms:created>
  <dcterms:modified xsi:type="dcterms:W3CDTF">2026-10-12T16:53:32Z</dcterms:modified>
</cp:coreProperties>
</file>