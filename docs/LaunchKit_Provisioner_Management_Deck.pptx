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Lst>
  <p:notesMasterIdLst>
    <p:notesMasterId r:id="rId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notesMaster" Target="notesMasters/notesMaster1.xml"/><Relationship Id="rId6" Type="http://schemas.openxmlformats.org/officeDocument/2006/relationships/presProps" Target="presProps.xml"/><Relationship Id="rId7" Type="http://schemas.openxmlformats.org/officeDocument/2006/relationships/viewProps" Target="viewProps.xml"/><Relationship Id="rId8" Type="http://schemas.openxmlformats.org/officeDocument/2006/relationships/theme" Target="theme/theme1.xml"/><Relationship Id="rId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Title slide. Replace with your own template title slide and copy the text across.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Overview slide: the problem, how the agent works, and the three capability pillars. Fictional demo launch: Spring Launch Event. All data is demo data.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Reference architecture. Every element is a native, editable PowerPoint shape or text box - no images. BigQuery (dataset launchkit) holds all data: reference data (launches, assets, bundle templates, guests, depots and stock, transit lanes, vendors and offers, planning rules, approval policy, approvers), the computed plan (scenarios, scenario lines, decisions, depot holds, vendor disruptions) and the orders and audit log. The root agent calls the three specialist agents as tools, so it writes every reply on every platform including Gemini Enterprise. Application Integration runs four workflows: create_purchase_order, create_depot_transfer, request_approval (a native Approval task that emails the executive Approve / Reject and waits) and send_launch_update.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4C1D95"/>
        </a:solidFill>
      </p:bgPr>
    </p:bg>
    <p:spTree>
      <p:nvGrpSpPr>
        <p:cNvPr id="1" name=""/>
        <p:cNvGrpSpPr/>
        <p:nvPr/>
      </p:nvGrpSpPr>
      <p:grpSpPr>
        <a:xfrm>
          <a:off x="0" y="0"/>
          <a:ext cx="0" cy="0"/>
          <a:chOff x="0" y="0"/>
          <a:chExt cx="0" cy="0"/>
        </a:xfrm>
      </p:grpSpPr>
      <p:sp>
        <p:nvSpPr>
          <p:cNvPr id="2" name="Text 0"/>
          <p:cNvSpPr txBox="1"/>
          <p:nvPr/>
        </p:nvSpPr>
        <p:spPr>
          <a:xfrm>
            <a:off x="822960" y="2103120"/>
            <a:ext cx="10058400" cy="914400"/>
          </a:xfrm>
          <a:prstGeom prst="rect">
            <a:avLst/>
          </a:prstGeom>
          <a:noFill/>
          <a:ln/>
        </p:spPr>
        <p:txBody>
          <a:bodyPr wrap="square" lIns="0" tIns="0" rIns="0" bIns="0" rtlCol="0" anchor="ctr"/>
          <a:lstStyle/>
          <a:p>
            <a:pPr indent="0" marL="0">
              <a:buNone/>
            </a:pPr>
            <a:r>
              <a:rPr lang="en-US" sz="4400" b="1" dirty="0">
                <a:solidFill>
                  <a:srgbClr val="FFFFFF"/>
                </a:solidFill>
                <a:latin typeface="Calibri" pitchFamily="34" charset="0"/>
                <a:ea typeface="Calibri" pitchFamily="34" charset="-122"/>
                <a:cs typeface="Calibri" pitchFamily="34" charset="-120"/>
              </a:rPr>
              <a:t>The LaunchKit Provisioner</a:t>
            </a:r>
            <a:endParaRPr lang="en-US" sz="4400" dirty="0"/>
          </a:p>
        </p:txBody>
      </p:sp>
      <p:sp>
        <p:nvSpPr>
          <p:cNvPr id="3" name="Text 1"/>
          <p:cNvSpPr txBox="1"/>
          <p:nvPr/>
        </p:nvSpPr>
        <p:spPr>
          <a:xfrm>
            <a:off x="822960" y="3108960"/>
            <a:ext cx="9601200" cy="822960"/>
          </a:xfrm>
          <a:prstGeom prst="rect">
            <a:avLst/>
          </a:prstGeom>
          <a:noFill/>
          <a:ln/>
        </p:spPr>
        <p:txBody>
          <a:bodyPr wrap="square" lIns="0" tIns="0" rIns="0" bIns="0" rtlCol="0" anchor="ctr"/>
          <a:lstStyle/>
          <a:p>
            <a:pPr indent="0" marL="0">
              <a:buNone/>
            </a:pPr>
            <a:r>
              <a:rPr lang="en-US" sz="2200" dirty="0">
                <a:solidFill>
                  <a:srgbClr val="FFFFFF"/>
                </a:solidFill>
                <a:latin typeface="Calibri" pitchFamily="34" charset="0"/>
                <a:ea typeface="Calibri" pitchFamily="34" charset="-122"/>
                <a:cs typeface="Calibri" pitchFamily="34" charset="-120"/>
              </a:rPr>
              <a:t>An event procurement agent on BigQuery and Application Integration: one event brief, many vendors, three plain-English options, approval by order size, bulk orders placed automatically</a:t>
            </a:r>
            <a:endParaRPr lang="en-US" sz="2200" dirty="0"/>
          </a:p>
        </p:txBody>
      </p:sp>
      <p:sp>
        <p:nvSpPr>
          <p:cNvPr id="4" name="Text 2"/>
          <p:cNvSpPr txBox="1"/>
          <p:nvPr/>
        </p:nvSpPr>
        <p:spPr>
          <a:xfrm>
            <a:off x="822960" y="4206240"/>
            <a:ext cx="9601200" cy="457200"/>
          </a:xfrm>
          <a:prstGeom prst="rect">
            <a:avLst/>
          </a:prstGeom>
          <a:noFill/>
          <a:ln/>
        </p:spPr>
        <p:txBody>
          <a:bodyPr wrap="square" lIns="0" tIns="0" rIns="0" bIns="0" rtlCol="0" anchor="ctr"/>
          <a:lstStyle/>
          <a:p>
            <a:pPr indent="0" marL="0">
              <a:buNone/>
            </a:pPr>
            <a:r>
              <a:rPr lang="en-US" sz="1800" dirty="0">
                <a:solidFill>
                  <a:srgbClr val="DDD6FE"/>
                </a:solidFill>
                <a:latin typeface="Calibri" pitchFamily="34" charset="0"/>
                <a:ea typeface="Calibri" pitchFamily="34" charset="-122"/>
                <a:cs typeface="Calibri" pitchFamily="34" charset="-120"/>
              </a:rPr>
              <a:t>User Persona: Product Marketing Manager, Brand Director, VP / CMO approver</a:t>
            </a:r>
            <a:endParaRPr lang="en-US" sz="1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6400800" cy="640080"/>
          </a:xfrm>
          <a:prstGeom prst="rect">
            <a:avLst/>
          </a:prstGeom>
          <a:noFill/>
          <a:ln/>
        </p:spPr>
        <p:txBody>
          <a:bodyPr wrap="square" lIns="0" tIns="0" rIns="0" bIns="0" rtlCol="0" anchor="ctr"/>
          <a:lstStyle/>
          <a:p>
            <a:pPr indent="0" marL="0">
              <a:buNone/>
            </a:pPr>
            <a:r>
              <a:rPr lang="en-US" sz="3000" dirty="0">
                <a:solidFill>
                  <a:srgbClr val="1E293B"/>
                </a:solidFill>
                <a:latin typeface="Calibri" pitchFamily="34" charset="0"/>
                <a:ea typeface="Calibri" pitchFamily="34" charset="-122"/>
                <a:cs typeface="Calibri" pitchFamily="34" charset="-120"/>
              </a:rPr>
              <a:t>The LaunchKit Provisioner</a:t>
            </a:r>
            <a:endParaRPr lang="en-US" sz="3000" dirty="0"/>
          </a:p>
        </p:txBody>
      </p:sp>
      <p:sp>
        <p:nvSpPr>
          <p:cNvPr id="3" name="Text 1"/>
          <p:cNvSpPr txBox="1"/>
          <p:nvPr/>
        </p:nvSpPr>
        <p:spPr>
          <a:xfrm>
            <a:off x="548640" y="1280160"/>
            <a:ext cx="5669280" cy="4754880"/>
          </a:xfrm>
          <a:prstGeom prst="rect">
            <a:avLst/>
          </a:prstGeom>
          <a:noFill/>
          <a:ln/>
        </p:spPr>
        <p:txBody>
          <a:bodyPr wrap="square" lIns="0" tIns="0" rIns="0" bIns="0" rtlCol="0" anchor="t"/>
          <a:lstStyle/>
          <a:p>
            <a:pPr marL="342900" indent="-342900">
              <a:spcAft>
                <a:spcPts val="1400"/>
              </a:spcAft>
              <a:buSzPct val="100000"/>
              <a:buChar char="•"/>
            </a:pPr>
            <a:r>
              <a:rPr lang="en-US" sz="1500" dirty="0">
                <a:solidFill>
                  <a:srgbClr val="1E293B"/>
                </a:solidFill>
                <a:latin typeface="Calibri" pitchFamily="34" charset="0"/>
                <a:ea typeface="Calibri" pitchFamily="34" charset="-122"/>
                <a:cs typeface="Calibri" pitchFamily="34" charset="-120"/>
              </a:rPr>
              <a:t>A big event, such as a product launch, needs many different items from many vendors, delivered to guests, venues and sales teams in several regions before a hard deadline. Teams buy item by item, juggle sizes, vendor lead times and surplus stock in different warehouses, and the only question finance sees is "approve this spend?".</a:t>
            </a:r>
            <a:endParaRPr lang="en-US" sz="1500" dirty="0"/>
          </a:p>
          <a:p>
            <a:pPr marL="342900" indent="-342900">
              <a:buSzPct val="100000"/>
              <a:buChar char="•"/>
            </a:pPr>
            <a:r>
              <a:rPr lang="en-US" sz="1500" dirty="0">
                <a:solidFill>
                  <a:srgbClr val="1E293B"/>
                </a:solidFill>
                <a:latin typeface="Calibri" pitchFamily="34" charset="0"/>
                <a:ea typeface="Calibri" pitchFamily="34" charset="-122"/>
                <a:cs typeface="Calibri" pitchFamily="34" charset="-120"/>
              </a:rPr>
              <a:t>Underneath it is still a purchase order, procurement and approval system, but it takes a WHOLE EVENT instead of single items. A central orchestrator turns the brief into a shopping list / Bill of Materials (Brief Analyst), compares many vendors and computes three plain-English options from BigQuery data (Sourcing Planner: buying everything new, use our stock first, buy the rest, certified green option), lets the Product Marketing Manager choose, gets a named executive to sign off above the autopilot limit, and has the orders placed (Fulfilment). Purchase orders, depot transfers, the sign-off email and the tracking update run as Google Application Integration workflows. The orchestrator is the only agent that can authorise spend.</a:t>
            </a:r>
            <a:endParaRPr lang="en-US" sz="1500" dirty="0"/>
          </a:p>
        </p:txBody>
      </p:sp>
      <p:sp>
        <p:nvSpPr>
          <p:cNvPr id="4" name="Shape 2"/>
          <p:cNvSpPr/>
          <p:nvPr/>
        </p:nvSpPr>
        <p:spPr>
          <a:xfrm>
            <a:off x="6583680" y="0"/>
            <a:ext cx="5605272" cy="6858000"/>
          </a:xfrm>
          <a:prstGeom prst="rect">
            <a:avLst/>
          </a:prstGeom>
          <a:solidFill>
            <a:srgbClr val="2B4BD8"/>
          </a:solidFill>
          <a:ln w="12700">
            <a:solidFill>
              <a:srgbClr val="2B4BD8"/>
            </a:solidFill>
            <a:prstDash val="solid"/>
          </a:ln>
        </p:spPr>
      </p:sp>
      <p:sp>
        <p:nvSpPr>
          <p:cNvPr id="5" name="Text 3"/>
          <p:cNvSpPr txBox="1"/>
          <p:nvPr/>
        </p:nvSpPr>
        <p:spPr>
          <a:xfrm>
            <a:off x="6858000" y="960120"/>
            <a:ext cx="548640" cy="731520"/>
          </a:xfrm>
          <a:prstGeom prst="rect">
            <a:avLst/>
          </a:prstGeom>
          <a:noFill/>
          <a:ln/>
        </p:spPr>
        <p:txBody>
          <a:bodyPr wrap="square" lIns="0" tIns="0" rIns="0" bIns="0" rtlCol="0" anchor="ctr"/>
          <a:lstStyle/>
          <a:p>
            <a:pPr indent="0" marL="0">
              <a:buNone/>
            </a:pPr>
            <a:r>
              <a:rPr lang="en-US" sz="4000" dirty="0">
                <a:solidFill>
                  <a:srgbClr val="FFFFFF"/>
                </a:solidFill>
                <a:latin typeface="Calibri" pitchFamily="34" charset="0"/>
                <a:ea typeface="Calibri" pitchFamily="34" charset="-122"/>
                <a:cs typeface="Calibri" pitchFamily="34" charset="-120"/>
              </a:rPr>
              <a:t>1</a:t>
            </a:r>
            <a:endParaRPr lang="en-US" sz="4000" dirty="0"/>
          </a:p>
        </p:txBody>
      </p:sp>
      <p:sp>
        <p:nvSpPr>
          <p:cNvPr id="6" name="Text 4"/>
          <p:cNvSpPr txBox="1"/>
          <p:nvPr/>
        </p:nvSpPr>
        <p:spPr>
          <a:xfrm>
            <a:off x="7498080" y="640080"/>
            <a:ext cx="4297680" cy="41148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Deadline-first planning</a:t>
            </a:r>
            <a:endParaRPr lang="en-US" sz="1800" dirty="0"/>
          </a:p>
        </p:txBody>
      </p:sp>
      <p:sp>
        <p:nvSpPr>
          <p:cNvPr id="7" name="Text 5"/>
          <p:cNvSpPr txBox="1"/>
          <p:nvPr/>
        </p:nvSpPr>
        <p:spPr>
          <a:xfrm>
            <a:off x="7498080" y="1097280"/>
            <a:ext cx="4297680" cy="1280160"/>
          </a:xfrm>
          <a:prstGeom prst="rect">
            <a:avLst/>
          </a:prstGeom>
          <a:noFill/>
          <a:ln/>
        </p:spPr>
        <p:txBody>
          <a:bodyPr wrap="square" lIns="0" tIns="0" rIns="0" bIns="0" rtlCol="0" anchor="t"/>
          <a:lstStyle/>
          <a:p>
            <a:pPr indent="0" marL="0">
              <a:buNone/>
            </a:pPr>
            <a:r>
              <a:rPr lang="en-US" sz="1200" dirty="0">
                <a:solidFill>
                  <a:srgbClr val="FFFFFF"/>
                </a:solidFill>
                <a:latin typeface="Calibri" pitchFamily="34" charset="0"/>
                <a:ea typeface="Calibri" pitchFamily="34" charset="-122"/>
                <a:cs typeface="Calibri" pitchFamily="34" charset="-120"/>
              </a:rPr>
              <a:t>Every option is costed against the in-hand date: cost, delivery date, safety buffer in hours, risk and carbon are computed from BigQuery, never typed in. Vendor delays re-plan the options in seconds.</a:t>
            </a:r>
            <a:endParaRPr lang="en-US" sz="1200" dirty="0"/>
          </a:p>
        </p:txBody>
      </p:sp>
      <p:sp>
        <p:nvSpPr>
          <p:cNvPr id="8" name="Shape 6"/>
          <p:cNvSpPr/>
          <p:nvPr/>
        </p:nvSpPr>
        <p:spPr>
          <a:xfrm>
            <a:off x="7498080" y="2450592"/>
            <a:ext cx="4297680" cy="0"/>
          </a:xfrm>
          <a:prstGeom prst="line">
            <a:avLst/>
          </a:prstGeom>
          <a:noFill/>
          <a:ln w="12700">
            <a:solidFill>
              <a:srgbClr val="FFFFFF"/>
            </a:solidFill>
            <a:prstDash val="solid"/>
          </a:ln>
        </p:spPr>
      </p:sp>
      <p:sp>
        <p:nvSpPr>
          <p:cNvPr id="9" name="Text 7"/>
          <p:cNvSpPr txBox="1"/>
          <p:nvPr/>
        </p:nvSpPr>
        <p:spPr>
          <a:xfrm>
            <a:off x="6858000" y="2926080"/>
            <a:ext cx="548640" cy="731520"/>
          </a:xfrm>
          <a:prstGeom prst="rect">
            <a:avLst/>
          </a:prstGeom>
          <a:noFill/>
          <a:ln/>
        </p:spPr>
        <p:txBody>
          <a:bodyPr wrap="square" lIns="0" tIns="0" rIns="0" bIns="0" rtlCol="0" anchor="ctr"/>
          <a:lstStyle/>
          <a:p>
            <a:pPr indent="0" marL="0">
              <a:buNone/>
            </a:pPr>
            <a:r>
              <a:rPr lang="en-US" sz="4000" dirty="0">
                <a:solidFill>
                  <a:srgbClr val="FFFFFF"/>
                </a:solidFill>
                <a:latin typeface="Calibri" pitchFamily="34" charset="0"/>
                <a:ea typeface="Calibri" pitchFamily="34" charset="-122"/>
                <a:cs typeface="Calibri" pitchFamily="34" charset="-120"/>
              </a:rPr>
              <a:t>2</a:t>
            </a:r>
            <a:endParaRPr lang="en-US" sz="4000" dirty="0"/>
          </a:p>
        </p:txBody>
      </p:sp>
      <p:sp>
        <p:nvSpPr>
          <p:cNvPr id="10" name="Text 8"/>
          <p:cNvSpPr txBox="1"/>
          <p:nvPr/>
        </p:nvSpPr>
        <p:spPr>
          <a:xfrm>
            <a:off x="7498080" y="2606040"/>
            <a:ext cx="4297680" cy="41148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Surplus before new spend</a:t>
            </a:r>
            <a:endParaRPr lang="en-US" sz="1800" dirty="0"/>
          </a:p>
        </p:txBody>
      </p:sp>
      <p:sp>
        <p:nvSpPr>
          <p:cNvPr id="11" name="Text 9"/>
          <p:cNvSpPr txBox="1"/>
          <p:nvPr/>
        </p:nvSpPr>
        <p:spPr>
          <a:xfrm>
            <a:off x="7498080" y="3063240"/>
            <a:ext cx="4297680" cy="1280160"/>
          </a:xfrm>
          <a:prstGeom prst="rect">
            <a:avLst/>
          </a:prstGeom>
          <a:noFill/>
          <a:ln/>
        </p:spPr>
        <p:txBody>
          <a:bodyPr wrap="square" lIns="0" tIns="0" rIns="0" bIns="0" rtlCol="0" anchor="t"/>
          <a:lstStyle/>
          <a:p>
            <a:pPr indent="0" marL="0">
              <a:buNone/>
            </a:pPr>
            <a:r>
              <a:rPr lang="en-US" sz="1200" dirty="0">
                <a:solidFill>
                  <a:srgbClr val="FFFFFF"/>
                </a:solidFill>
                <a:latin typeface="Calibri" pitchFamily="34" charset="0"/>
                <a:ea typeface="Calibri" pitchFamily="34" charset="-122"/>
                <a:cs typeface="Calibri" pitchFamily="34" charset="-120"/>
              </a:rPr>
              <a:t>Spare packaging, folders and adapters in regional depots are reused first, nearest depot first, and held while a sign-off is pending. The rebalance option saves cost and often arrives earlier.</a:t>
            </a:r>
            <a:endParaRPr lang="en-US" sz="1200" dirty="0"/>
          </a:p>
        </p:txBody>
      </p:sp>
      <p:sp>
        <p:nvSpPr>
          <p:cNvPr id="12" name="Shape 10"/>
          <p:cNvSpPr/>
          <p:nvPr/>
        </p:nvSpPr>
        <p:spPr>
          <a:xfrm>
            <a:off x="7498080" y="4416552"/>
            <a:ext cx="4297680" cy="0"/>
          </a:xfrm>
          <a:prstGeom prst="line">
            <a:avLst/>
          </a:prstGeom>
          <a:noFill/>
          <a:ln w="12700">
            <a:solidFill>
              <a:srgbClr val="FFFFFF"/>
            </a:solidFill>
            <a:prstDash val="solid"/>
          </a:ln>
        </p:spPr>
      </p:sp>
      <p:sp>
        <p:nvSpPr>
          <p:cNvPr id="13" name="Text 11"/>
          <p:cNvSpPr txBox="1"/>
          <p:nvPr/>
        </p:nvSpPr>
        <p:spPr>
          <a:xfrm>
            <a:off x="6858000" y="4892040"/>
            <a:ext cx="548640" cy="731520"/>
          </a:xfrm>
          <a:prstGeom prst="rect">
            <a:avLst/>
          </a:prstGeom>
          <a:noFill/>
          <a:ln/>
        </p:spPr>
        <p:txBody>
          <a:bodyPr wrap="square" lIns="0" tIns="0" rIns="0" bIns="0" rtlCol="0" anchor="ctr"/>
          <a:lstStyle/>
          <a:p>
            <a:pPr indent="0" marL="0">
              <a:buNone/>
            </a:pPr>
            <a:r>
              <a:rPr lang="en-US" sz="4000" dirty="0">
                <a:solidFill>
                  <a:srgbClr val="FFFFFF"/>
                </a:solidFill>
                <a:latin typeface="Calibri" pitchFamily="34" charset="0"/>
                <a:ea typeface="Calibri" pitchFamily="34" charset="-122"/>
                <a:cs typeface="Calibri" pitchFamily="34" charset="-120"/>
              </a:rPr>
              <a:t>3</a:t>
            </a:r>
            <a:endParaRPr lang="en-US" sz="4000" dirty="0"/>
          </a:p>
        </p:txBody>
      </p:sp>
      <p:sp>
        <p:nvSpPr>
          <p:cNvPr id="14" name="Text 12"/>
          <p:cNvSpPr txBox="1"/>
          <p:nvPr/>
        </p:nvSpPr>
        <p:spPr>
          <a:xfrm>
            <a:off x="7498080" y="4572000"/>
            <a:ext cx="4297680" cy="41148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A decision, not a yes / no</a:t>
            </a:r>
            <a:endParaRPr lang="en-US" sz="1800" dirty="0"/>
          </a:p>
        </p:txBody>
      </p:sp>
      <p:sp>
        <p:nvSpPr>
          <p:cNvPr id="15" name="Text 13"/>
          <p:cNvSpPr txBox="1"/>
          <p:nvPr/>
        </p:nvSpPr>
        <p:spPr>
          <a:xfrm>
            <a:off x="7498080" y="5029200"/>
            <a:ext cx="4297680" cy="1280160"/>
          </a:xfrm>
          <a:prstGeom prst="rect">
            <a:avLst/>
          </a:prstGeom>
          <a:noFill/>
          <a:ln/>
        </p:spPr>
        <p:txBody>
          <a:bodyPr wrap="square" lIns="0" tIns="0" rIns="0" bIns="0" rtlCol="0" anchor="t"/>
          <a:lstStyle/>
          <a:p>
            <a:pPr indent="0" marL="0">
              <a:buNone/>
            </a:pPr>
            <a:r>
              <a:rPr lang="en-US" sz="1200" dirty="0">
                <a:solidFill>
                  <a:srgbClr val="FFFFFF"/>
                </a:solidFill>
                <a:latin typeface="Calibri" pitchFamily="34" charset="0"/>
                <a:ea typeface="Calibri" pitchFamily="34" charset="-122"/>
                <a:cs typeface="Calibri" pitchFamily="34" charset="-120"/>
              </a:rPr>
              <a:t>The manager picks one of three computed options. Small spend runs on autopilot; above the limit a VP (or the CMO for the largest option) signs off by email. Orders, transfers and the audit trail follow automatically.</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182880"/>
            <a:ext cx="11247120" cy="548640"/>
          </a:xfrm>
          <a:prstGeom prst="rect">
            <a:avLst/>
          </a:prstGeom>
          <a:noFill/>
          <a:ln/>
        </p:spPr>
        <p:txBody>
          <a:bodyPr wrap="square" lIns="25400" tIns="25400" rIns="25400" bIns="25400" rtlCol="0" anchor="ctr"/>
          <a:lstStyle/>
          <a:p>
            <a:pPr algn="ctr" indent="0" marL="0">
              <a:buNone/>
            </a:pPr>
            <a:r>
              <a:rPr lang="en-US" sz="2600" dirty="0">
                <a:solidFill>
                  <a:srgbClr val="2563EB"/>
                </a:solidFill>
                <a:latin typeface="Calibri" pitchFamily="34" charset="0"/>
                <a:ea typeface="Calibri" pitchFamily="34" charset="-122"/>
                <a:cs typeface="Calibri" pitchFamily="34" charset="-120"/>
              </a:rPr>
              <a:t>The LaunchKit Provisioner : Reference Architecture</a:t>
            </a:r>
            <a:endParaRPr lang="en-US" sz="2600" dirty="0"/>
          </a:p>
        </p:txBody>
      </p:sp>
      <p:sp>
        <p:nvSpPr>
          <p:cNvPr id="3" name="Shape 1"/>
          <p:cNvSpPr/>
          <p:nvPr/>
        </p:nvSpPr>
        <p:spPr>
          <a:xfrm>
            <a:off x="457200" y="822960"/>
            <a:ext cx="11247120" cy="0"/>
          </a:xfrm>
          <a:prstGeom prst="line">
            <a:avLst/>
          </a:prstGeom>
          <a:noFill/>
          <a:ln w="9525">
            <a:solidFill>
              <a:srgbClr val="D1D5DB"/>
            </a:solidFill>
            <a:prstDash val="solid"/>
          </a:ln>
        </p:spPr>
      </p:sp>
      <p:sp>
        <p:nvSpPr>
          <p:cNvPr id="4" name="Shape 2"/>
          <p:cNvSpPr/>
          <p:nvPr/>
        </p:nvSpPr>
        <p:spPr>
          <a:xfrm>
            <a:off x="365760" y="2286000"/>
            <a:ext cx="1828800" cy="2103120"/>
          </a:xfrm>
          <a:prstGeom prst="rect">
            <a:avLst/>
          </a:prstGeom>
          <a:solidFill>
            <a:srgbClr val="EFF4FF"/>
          </a:solidFill>
          <a:ln w="12700">
            <a:solidFill>
              <a:srgbClr val="93A8D8"/>
            </a:solidFill>
            <a:prstDash val="solid"/>
          </a:ln>
        </p:spPr>
      </p:sp>
      <p:sp>
        <p:nvSpPr>
          <p:cNvPr id="5" name="Text 3"/>
          <p:cNvSpPr txBox="1"/>
          <p:nvPr/>
        </p:nvSpPr>
        <p:spPr>
          <a:xfrm>
            <a:off x="411480" y="2331720"/>
            <a:ext cx="1737360" cy="274320"/>
          </a:xfrm>
          <a:prstGeom prst="rect">
            <a:avLst/>
          </a:prstGeom>
          <a:noFill/>
          <a:ln/>
        </p:spPr>
        <p:txBody>
          <a:bodyPr wrap="square" lIns="25400" tIns="25400" rIns="25400" bIns="25400" rtlCol="0" anchor="ctr"/>
          <a:lstStyle/>
          <a:p>
            <a:pPr algn="ctr" indent="0" marL="0">
              <a:buNone/>
            </a:pPr>
            <a:r>
              <a:rPr lang="en-US" sz="1100" b="1" dirty="0">
                <a:solidFill>
                  <a:srgbClr val="1F3A8A"/>
                </a:solidFill>
                <a:latin typeface="Calibri" pitchFamily="34" charset="0"/>
                <a:ea typeface="Calibri" pitchFamily="34" charset="-122"/>
                <a:cs typeface="Calibri" pitchFamily="34" charset="-120"/>
              </a:rPr>
              <a:t>Users &amp; Channels</a:t>
            </a:r>
            <a:endParaRPr lang="en-US" sz="1100" dirty="0"/>
          </a:p>
        </p:txBody>
      </p:sp>
      <p:sp>
        <p:nvSpPr>
          <p:cNvPr id="6" name="Text 4"/>
          <p:cNvSpPr txBox="1"/>
          <p:nvPr/>
        </p:nvSpPr>
        <p:spPr>
          <a:xfrm>
            <a:off x="411480" y="2651760"/>
            <a:ext cx="1737360" cy="731520"/>
          </a:xfrm>
          <a:prstGeom prst="rect">
            <a:avLst/>
          </a:prstGeom>
          <a:noFill/>
          <a:ln/>
        </p:spPr>
        <p:txBody>
          <a:bodyPr wrap="square" lIns="25400" tIns="25400" rIns="25400" bIns="25400" rtlCol="0" anchor="ctr"/>
          <a:lstStyle/>
          <a:p>
            <a:pPr algn="ctr" indent="0" marL="0">
              <a:buNone/>
            </a:pPr>
            <a:r>
              <a:rPr lang="en-US" sz="900" b="1" dirty="0">
                <a:solidFill>
                  <a:srgbClr val="1E293B"/>
                </a:solidFill>
                <a:latin typeface="Calibri" pitchFamily="34" charset="0"/>
                <a:ea typeface="Calibri" pitchFamily="34" charset="-122"/>
                <a:cs typeface="Calibri" pitchFamily="34" charset="-120"/>
              </a:rPr>
              <a:t>Product Marketing</a:t>
            </a:r>
            <a:endParaRPr lang="en-US" sz="900" dirty="0"/>
          </a:p>
          <a:p>
            <a:pPr algn="ctr" indent="0" marL="0">
              <a:buNone/>
            </a:pPr>
            <a:r>
              <a:rPr lang="en-US" sz="900" b="1" dirty="0">
                <a:solidFill>
                  <a:srgbClr val="1E293B"/>
                </a:solidFill>
                <a:latin typeface="Calibri" pitchFamily="34" charset="0"/>
                <a:ea typeface="Calibri" pitchFamily="34" charset="-122"/>
                <a:cs typeface="Calibri" pitchFamily="34" charset="-120"/>
              </a:rPr>
              <a:t>Manager, Brand Director</a:t>
            </a:r>
            <a:endParaRPr lang="en-US" sz="900" dirty="0"/>
          </a:p>
        </p:txBody>
      </p:sp>
      <p:sp>
        <p:nvSpPr>
          <p:cNvPr id="7" name="Text 5"/>
          <p:cNvSpPr txBox="1"/>
          <p:nvPr/>
        </p:nvSpPr>
        <p:spPr>
          <a:xfrm>
            <a:off x="411480" y="3429000"/>
            <a:ext cx="1737360" cy="274320"/>
          </a:xfrm>
          <a:prstGeom prst="rect">
            <a:avLst/>
          </a:prstGeom>
          <a:noFill/>
          <a:ln/>
        </p:spPr>
        <p:txBody>
          <a:bodyPr wrap="square" lIns="25400" tIns="25400" rIns="25400" bIns="25400" rtlCol="0" anchor="ctr"/>
          <a:lstStyle/>
          <a:p>
            <a:pPr algn="ctr" indent="0" marL="0">
              <a:buNone/>
            </a:pPr>
            <a:r>
              <a:rPr lang="en-US" sz="1100" b="1" dirty="0">
                <a:solidFill>
                  <a:srgbClr val="1F3A8A"/>
                </a:solidFill>
                <a:latin typeface="Calibri" pitchFamily="34" charset="0"/>
                <a:ea typeface="Calibri" pitchFamily="34" charset="-122"/>
                <a:cs typeface="Calibri" pitchFamily="34" charset="-120"/>
              </a:rPr>
              <a:t>Interfaces</a:t>
            </a:r>
            <a:endParaRPr lang="en-US" sz="1100" dirty="0"/>
          </a:p>
        </p:txBody>
      </p:sp>
      <p:sp>
        <p:nvSpPr>
          <p:cNvPr id="8" name="Shape 6"/>
          <p:cNvSpPr/>
          <p:nvPr/>
        </p:nvSpPr>
        <p:spPr>
          <a:xfrm>
            <a:off x="502920" y="3703320"/>
            <a:ext cx="1554480" cy="274320"/>
          </a:xfrm>
          <a:prstGeom prst="roundRect">
            <a:avLst>
              <a:gd name="adj" fmla="val 20000"/>
            </a:avLst>
          </a:prstGeom>
          <a:solidFill>
            <a:srgbClr val="FFFFFF"/>
          </a:solidFill>
          <a:ln w="12700">
            <a:solidFill>
              <a:srgbClr val="93A8D8"/>
            </a:solidFill>
            <a:prstDash val="solid"/>
          </a:ln>
        </p:spPr>
      </p:sp>
      <p:sp>
        <p:nvSpPr>
          <p:cNvPr id="9" name="Text 7"/>
          <p:cNvSpPr txBox="1"/>
          <p:nvPr/>
        </p:nvSpPr>
        <p:spPr>
          <a:xfrm>
            <a:off x="548640" y="3739896"/>
            <a:ext cx="1463040" cy="201168"/>
          </a:xfrm>
          <a:prstGeom prst="rect">
            <a:avLst/>
          </a:prstGeom>
          <a:noFill/>
          <a:ln/>
        </p:spPr>
        <p:txBody>
          <a:bodyPr wrap="square" lIns="25400" tIns="25400" rIns="25400" bIns="25400" rtlCol="0" anchor="ctr"/>
          <a:lstStyle/>
          <a:p>
            <a:pPr algn="ctr" indent="0" marL="0">
              <a:buNone/>
            </a:pPr>
            <a:r>
              <a:rPr lang="en-US" sz="800" b="1" dirty="0">
                <a:solidFill>
                  <a:srgbClr val="1E293B"/>
                </a:solidFill>
                <a:latin typeface="Calibri" pitchFamily="34" charset="0"/>
                <a:ea typeface="Calibri" pitchFamily="34" charset="-122"/>
                <a:cs typeface="Calibri" pitchFamily="34" charset="-120"/>
              </a:rPr>
              <a:t>Gemini Enterprise App</a:t>
            </a:r>
            <a:endParaRPr lang="en-US" sz="800" dirty="0"/>
          </a:p>
        </p:txBody>
      </p:sp>
      <p:sp>
        <p:nvSpPr>
          <p:cNvPr id="10" name="Shape 8"/>
          <p:cNvSpPr/>
          <p:nvPr/>
        </p:nvSpPr>
        <p:spPr>
          <a:xfrm>
            <a:off x="502920" y="4023360"/>
            <a:ext cx="1554480" cy="274320"/>
          </a:xfrm>
          <a:prstGeom prst="roundRect">
            <a:avLst>
              <a:gd name="adj" fmla="val 20000"/>
            </a:avLst>
          </a:prstGeom>
          <a:solidFill>
            <a:srgbClr val="FFFFFF"/>
          </a:solidFill>
          <a:ln w="12700">
            <a:solidFill>
              <a:srgbClr val="93A8D8"/>
            </a:solidFill>
            <a:prstDash val="solid"/>
          </a:ln>
        </p:spPr>
      </p:sp>
      <p:sp>
        <p:nvSpPr>
          <p:cNvPr id="11" name="Text 9"/>
          <p:cNvSpPr txBox="1"/>
          <p:nvPr/>
        </p:nvSpPr>
        <p:spPr>
          <a:xfrm>
            <a:off x="548640" y="4059936"/>
            <a:ext cx="1463040" cy="201168"/>
          </a:xfrm>
          <a:prstGeom prst="rect">
            <a:avLst/>
          </a:prstGeom>
          <a:noFill/>
          <a:ln/>
        </p:spPr>
        <p:txBody>
          <a:bodyPr wrap="square" lIns="25400" tIns="25400" rIns="25400" bIns="25400" rtlCol="0" anchor="ctr"/>
          <a:lstStyle/>
          <a:p>
            <a:pPr algn="ctr" indent="0" marL="0">
              <a:buNone/>
            </a:pPr>
            <a:r>
              <a:rPr lang="en-US" sz="800" b="1" dirty="0">
                <a:solidFill>
                  <a:srgbClr val="1E293B"/>
                </a:solidFill>
                <a:latin typeface="Calibri" pitchFamily="34" charset="0"/>
                <a:ea typeface="Calibri" pitchFamily="34" charset="-122"/>
                <a:cs typeface="Calibri" pitchFamily="34" charset="-120"/>
              </a:rPr>
              <a:t>Custom Apps / ADK Web</a:t>
            </a:r>
            <a:endParaRPr lang="en-US" sz="800" dirty="0"/>
          </a:p>
        </p:txBody>
      </p:sp>
      <p:sp>
        <p:nvSpPr>
          <p:cNvPr id="12" name="Shape 10"/>
          <p:cNvSpPr/>
          <p:nvPr/>
        </p:nvSpPr>
        <p:spPr>
          <a:xfrm>
            <a:off x="2194560" y="2926080"/>
            <a:ext cx="502920" cy="0"/>
          </a:xfrm>
          <a:prstGeom prst="line">
            <a:avLst/>
          </a:prstGeom>
          <a:noFill/>
          <a:ln w="19050">
            <a:solidFill>
              <a:srgbClr val="2563EB"/>
            </a:solidFill>
            <a:prstDash val="solid"/>
            <a:tailEnd type="triangle"/>
          </a:ln>
        </p:spPr>
      </p:sp>
      <p:sp>
        <p:nvSpPr>
          <p:cNvPr id="13" name="Text 11"/>
          <p:cNvSpPr txBox="1"/>
          <p:nvPr/>
        </p:nvSpPr>
        <p:spPr>
          <a:xfrm>
            <a:off x="2148840" y="2697480"/>
            <a:ext cx="548640" cy="182880"/>
          </a:xfrm>
          <a:prstGeom prst="rect">
            <a:avLst/>
          </a:prstGeom>
          <a:noFill/>
          <a:ln/>
        </p:spPr>
        <p:txBody>
          <a:bodyPr wrap="square" lIns="25400" tIns="25400" rIns="25400" bIns="25400" rtlCol="0" anchor="ctr"/>
          <a:lstStyle/>
          <a:p>
            <a:pPr algn="ctr" indent="0" marL="0">
              <a:buNone/>
            </a:pPr>
            <a:r>
              <a:rPr lang="en-US" sz="700" dirty="0">
                <a:solidFill>
                  <a:srgbClr val="64748B"/>
                </a:solidFill>
                <a:latin typeface="Calibri" pitchFamily="34" charset="0"/>
                <a:ea typeface="Calibri" pitchFamily="34" charset="-122"/>
                <a:cs typeface="Calibri" pitchFamily="34" charset="-120"/>
              </a:rPr>
              <a:t>Brief</a:t>
            </a:r>
            <a:endParaRPr lang="en-US" sz="700" dirty="0"/>
          </a:p>
        </p:txBody>
      </p:sp>
      <p:sp>
        <p:nvSpPr>
          <p:cNvPr id="14" name="Shape 12"/>
          <p:cNvSpPr/>
          <p:nvPr/>
        </p:nvSpPr>
        <p:spPr>
          <a:xfrm flipH="1">
            <a:off x="2194560" y="3566160"/>
            <a:ext cx="502920" cy="0"/>
          </a:xfrm>
          <a:prstGeom prst="line">
            <a:avLst/>
          </a:prstGeom>
          <a:noFill/>
          <a:ln w="19050">
            <a:solidFill>
              <a:srgbClr val="2563EB"/>
            </a:solidFill>
            <a:prstDash val="solid"/>
            <a:tailEnd type="triangle"/>
          </a:ln>
        </p:spPr>
      </p:sp>
      <p:sp>
        <p:nvSpPr>
          <p:cNvPr id="15" name="Text 13"/>
          <p:cNvSpPr txBox="1"/>
          <p:nvPr/>
        </p:nvSpPr>
        <p:spPr>
          <a:xfrm>
            <a:off x="2148840" y="3611880"/>
            <a:ext cx="548640" cy="182880"/>
          </a:xfrm>
          <a:prstGeom prst="rect">
            <a:avLst/>
          </a:prstGeom>
          <a:noFill/>
          <a:ln/>
        </p:spPr>
        <p:txBody>
          <a:bodyPr wrap="square" lIns="25400" tIns="25400" rIns="25400" bIns="25400" rtlCol="0" anchor="ctr"/>
          <a:lstStyle/>
          <a:p>
            <a:pPr algn="ctr" indent="0" marL="0">
              <a:buNone/>
            </a:pPr>
            <a:r>
              <a:rPr lang="en-US" sz="700" dirty="0">
                <a:solidFill>
                  <a:srgbClr val="64748B"/>
                </a:solidFill>
                <a:latin typeface="Calibri" pitchFamily="34" charset="0"/>
                <a:ea typeface="Calibri" pitchFamily="34" charset="-122"/>
                <a:cs typeface="Calibri" pitchFamily="34" charset="-120"/>
              </a:rPr>
              <a:t>Options</a:t>
            </a:r>
            <a:endParaRPr lang="en-US" sz="700" dirty="0"/>
          </a:p>
        </p:txBody>
      </p:sp>
      <p:sp>
        <p:nvSpPr>
          <p:cNvPr id="16" name="Shape 14"/>
          <p:cNvSpPr/>
          <p:nvPr/>
        </p:nvSpPr>
        <p:spPr>
          <a:xfrm>
            <a:off x="365760" y="4572000"/>
            <a:ext cx="1828800" cy="1234440"/>
          </a:xfrm>
          <a:prstGeom prst="rect">
            <a:avLst/>
          </a:prstGeom>
          <a:solidFill>
            <a:srgbClr val="EFF4FF"/>
          </a:solidFill>
          <a:ln w="12700">
            <a:solidFill>
              <a:srgbClr val="93A8D8"/>
            </a:solidFill>
            <a:prstDash val="solid"/>
          </a:ln>
        </p:spPr>
      </p:sp>
      <p:sp>
        <p:nvSpPr>
          <p:cNvPr id="17" name="Text 15"/>
          <p:cNvSpPr txBox="1"/>
          <p:nvPr/>
        </p:nvSpPr>
        <p:spPr>
          <a:xfrm>
            <a:off x="411480" y="4599432"/>
            <a:ext cx="1737360" cy="256032"/>
          </a:xfrm>
          <a:prstGeom prst="rect">
            <a:avLst/>
          </a:prstGeom>
          <a:noFill/>
          <a:ln/>
        </p:spPr>
        <p:txBody>
          <a:bodyPr wrap="square" lIns="25400" tIns="25400" rIns="25400" bIns="25400" rtlCol="0" anchor="ctr"/>
          <a:lstStyle/>
          <a:p>
            <a:pPr algn="ctr" indent="0" marL="0">
              <a:buNone/>
            </a:pPr>
            <a:r>
              <a:rPr lang="en-US" sz="1000" b="1" dirty="0">
                <a:solidFill>
                  <a:srgbClr val="1F3A8A"/>
                </a:solidFill>
                <a:latin typeface="Calibri" pitchFamily="34" charset="0"/>
                <a:ea typeface="Calibri" pitchFamily="34" charset="-122"/>
                <a:cs typeface="Calibri" pitchFamily="34" charset="-120"/>
              </a:rPr>
              <a:t>Sign-off (HITL)</a:t>
            </a:r>
            <a:endParaRPr lang="en-US" sz="1000" dirty="0"/>
          </a:p>
        </p:txBody>
      </p:sp>
      <p:sp>
        <p:nvSpPr>
          <p:cNvPr id="18" name="Shape 16"/>
          <p:cNvSpPr/>
          <p:nvPr/>
        </p:nvSpPr>
        <p:spPr>
          <a:xfrm>
            <a:off x="502920" y="4864608"/>
            <a:ext cx="1554480" cy="384048"/>
          </a:xfrm>
          <a:prstGeom prst="roundRect">
            <a:avLst>
              <a:gd name="adj" fmla="val 14286"/>
            </a:avLst>
          </a:prstGeom>
          <a:solidFill>
            <a:srgbClr val="FFFFFF"/>
          </a:solidFill>
          <a:ln w="12700">
            <a:solidFill>
              <a:srgbClr val="93A8D8"/>
            </a:solidFill>
            <a:prstDash val="solid"/>
          </a:ln>
        </p:spPr>
      </p:sp>
      <p:sp>
        <p:nvSpPr>
          <p:cNvPr id="19" name="Text 17"/>
          <p:cNvSpPr txBox="1"/>
          <p:nvPr/>
        </p:nvSpPr>
        <p:spPr>
          <a:xfrm>
            <a:off x="548640" y="4901184"/>
            <a:ext cx="1463040" cy="310896"/>
          </a:xfrm>
          <a:prstGeom prst="rect">
            <a:avLst/>
          </a:prstGeom>
          <a:noFill/>
          <a:ln/>
        </p:spPr>
        <p:txBody>
          <a:bodyPr wrap="square" lIns="25400" tIns="25400" rIns="25400" bIns="25400" rtlCol="0" anchor="ctr"/>
          <a:lstStyle/>
          <a:p>
            <a:pPr algn="ctr" indent="0" marL="0">
              <a:buNone/>
            </a:pPr>
            <a:r>
              <a:rPr lang="en-US" sz="750" b="1" dirty="0">
                <a:solidFill>
                  <a:srgbClr val="1E293B"/>
                </a:solidFill>
                <a:latin typeface="Calibri" pitchFamily="34" charset="0"/>
                <a:ea typeface="Calibri" pitchFamily="34" charset="-122"/>
                <a:cs typeface="Calibri" pitchFamily="34" charset="-120"/>
              </a:rPr>
              <a:t>VP / CMO: Approve / Reject email</a:t>
            </a:r>
            <a:endParaRPr lang="en-US" sz="750" dirty="0"/>
          </a:p>
        </p:txBody>
      </p:sp>
      <p:sp>
        <p:nvSpPr>
          <p:cNvPr id="20" name="Shape 18"/>
          <p:cNvSpPr/>
          <p:nvPr/>
        </p:nvSpPr>
        <p:spPr>
          <a:xfrm>
            <a:off x="502920" y="5303520"/>
            <a:ext cx="1554480" cy="411480"/>
          </a:xfrm>
          <a:prstGeom prst="roundRect">
            <a:avLst>
              <a:gd name="adj" fmla="val 13333"/>
            </a:avLst>
          </a:prstGeom>
          <a:solidFill>
            <a:srgbClr val="FFFFFF"/>
          </a:solidFill>
          <a:ln w="12700">
            <a:solidFill>
              <a:srgbClr val="93A8D8"/>
            </a:solidFill>
            <a:prstDash val="solid"/>
          </a:ln>
        </p:spPr>
      </p:sp>
      <p:sp>
        <p:nvSpPr>
          <p:cNvPr id="21" name="Text 19"/>
          <p:cNvSpPr txBox="1"/>
          <p:nvPr/>
        </p:nvSpPr>
        <p:spPr>
          <a:xfrm>
            <a:off x="548640" y="5340096"/>
            <a:ext cx="1463040" cy="185166"/>
          </a:xfrm>
          <a:prstGeom prst="rect">
            <a:avLst/>
          </a:prstGeom>
          <a:noFill/>
          <a:ln/>
        </p:spPr>
        <p:txBody>
          <a:bodyPr wrap="square" lIns="25400" tIns="25400" rIns="25400" bIns="25400" rtlCol="0" anchor="ctr"/>
          <a:lstStyle/>
          <a:p>
            <a:pPr algn="ctr" indent="0" marL="0">
              <a:buNone/>
            </a:pPr>
            <a:r>
              <a:rPr lang="en-US" sz="800" b="1" dirty="0">
                <a:solidFill>
                  <a:srgbClr val="1E293B"/>
                </a:solidFill>
                <a:latin typeface="Calibri" pitchFamily="34" charset="0"/>
                <a:ea typeface="Calibri" pitchFamily="34" charset="-122"/>
                <a:cs typeface="Calibri" pitchFamily="34" charset="-120"/>
              </a:rPr>
              <a:t>Approval task</a:t>
            </a:r>
            <a:endParaRPr lang="en-US" sz="800" dirty="0"/>
          </a:p>
        </p:txBody>
      </p:sp>
      <p:sp>
        <p:nvSpPr>
          <p:cNvPr id="22" name="Text 20"/>
          <p:cNvSpPr txBox="1"/>
          <p:nvPr/>
        </p:nvSpPr>
        <p:spPr>
          <a:xfrm>
            <a:off x="548640" y="5496916"/>
            <a:ext cx="1463040" cy="205740"/>
          </a:xfrm>
          <a:prstGeom prst="rect">
            <a:avLst/>
          </a:prstGeom>
          <a:noFill/>
          <a:ln/>
        </p:spPr>
        <p:txBody>
          <a:bodyPr wrap="square" lIns="25400" tIns="25400" rIns="25400" bIns="25400" rtlCol="0" anchor="t"/>
          <a:lstStyle/>
          <a:p>
            <a:pPr algn="ctr" indent="0" marL="0">
              <a:buNone/>
            </a:pPr>
            <a:r>
              <a:rPr lang="en-US" sz="750" dirty="0">
                <a:solidFill>
                  <a:srgbClr val="64748B"/>
                </a:solidFill>
                <a:latin typeface="Calibri" pitchFamily="34" charset="0"/>
                <a:ea typeface="Calibri" pitchFamily="34" charset="-122"/>
                <a:cs typeface="Calibri" pitchFamily="34" charset="-120"/>
              </a:rPr>
              <a:t>Application Integration</a:t>
            </a:r>
            <a:endParaRPr lang="en-US" sz="750" dirty="0"/>
          </a:p>
        </p:txBody>
      </p:sp>
      <p:sp>
        <p:nvSpPr>
          <p:cNvPr id="23" name="Shape 21"/>
          <p:cNvSpPr/>
          <p:nvPr/>
        </p:nvSpPr>
        <p:spPr>
          <a:xfrm>
            <a:off x="2194560" y="5440680"/>
            <a:ext cx="502920" cy="0"/>
          </a:xfrm>
          <a:prstGeom prst="line">
            <a:avLst/>
          </a:prstGeom>
          <a:noFill/>
          <a:ln w="19050">
            <a:solidFill>
              <a:srgbClr val="2563EB"/>
            </a:solidFill>
            <a:prstDash val="solid"/>
            <a:tailEnd type="triangle"/>
          </a:ln>
        </p:spPr>
      </p:sp>
      <p:sp>
        <p:nvSpPr>
          <p:cNvPr id="24" name="Shape 22"/>
          <p:cNvSpPr/>
          <p:nvPr/>
        </p:nvSpPr>
        <p:spPr>
          <a:xfrm>
            <a:off x="2697480" y="960120"/>
            <a:ext cx="6766560" cy="5074920"/>
          </a:xfrm>
          <a:prstGeom prst="rect">
            <a:avLst/>
          </a:prstGeom>
          <a:solidFill>
            <a:srgbClr val="FFFFFF"/>
          </a:solidFill>
          <a:ln w="15875">
            <a:solidFill>
              <a:srgbClr val="2563EB"/>
            </a:solidFill>
            <a:prstDash val="solid"/>
          </a:ln>
        </p:spPr>
      </p:sp>
      <p:sp>
        <p:nvSpPr>
          <p:cNvPr id="25" name="Text 23"/>
          <p:cNvSpPr txBox="1"/>
          <p:nvPr/>
        </p:nvSpPr>
        <p:spPr>
          <a:xfrm>
            <a:off x="2697480" y="987552"/>
            <a:ext cx="6766560" cy="274320"/>
          </a:xfrm>
          <a:prstGeom prst="rect">
            <a:avLst/>
          </a:prstGeom>
          <a:noFill/>
          <a:ln/>
        </p:spPr>
        <p:txBody>
          <a:bodyPr wrap="square" lIns="25400" tIns="25400" rIns="25400" bIns="25400" rtlCol="0" anchor="ctr"/>
          <a:lstStyle/>
          <a:p>
            <a:pPr algn="ctr" indent="0" marL="0">
              <a:buNone/>
            </a:pPr>
            <a:r>
              <a:rPr lang="en-US" sz="1000" b="1" dirty="0">
                <a:solidFill>
                  <a:srgbClr val="1E293B"/>
                </a:solidFill>
                <a:latin typeface="Calibri" pitchFamily="34" charset="0"/>
                <a:ea typeface="Calibri" pitchFamily="34" charset="-122"/>
                <a:cs typeface="Calibri" pitchFamily="34" charset="-120"/>
              </a:rPr>
              <a:t>Google Cloud ( Vertex AI Agent Engine runtime )</a:t>
            </a:r>
            <a:endParaRPr lang="en-US" sz="1000" dirty="0"/>
          </a:p>
        </p:txBody>
      </p:sp>
      <p:sp>
        <p:nvSpPr>
          <p:cNvPr id="26" name="Shape 24"/>
          <p:cNvSpPr/>
          <p:nvPr/>
        </p:nvSpPr>
        <p:spPr>
          <a:xfrm>
            <a:off x="2834640" y="1325880"/>
            <a:ext cx="6492240" cy="1097280"/>
          </a:xfrm>
          <a:prstGeom prst="rect">
            <a:avLst/>
          </a:prstGeom>
          <a:solidFill>
            <a:srgbClr val="EFF4FF"/>
          </a:solidFill>
          <a:ln w="12700">
            <a:solidFill>
              <a:srgbClr val="93A8D8"/>
            </a:solidFill>
            <a:prstDash val="solid"/>
          </a:ln>
        </p:spPr>
      </p:sp>
      <p:sp>
        <p:nvSpPr>
          <p:cNvPr id="27" name="Shape 25"/>
          <p:cNvSpPr/>
          <p:nvPr/>
        </p:nvSpPr>
        <p:spPr>
          <a:xfrm>
            <a:off x="2880360" y="1261872"/>
            <a:ext cx="914400" cy="201168"/>
          </a:xfrm>
          <a:prstGeom prst="roundRect">
            <a:avLst>
              <a:gd name="adj" fmla="val 22727"/>
            </a:avLst>
          </a:prstGeom>
          <a:solidFill>
            <a:srgbClr val="2563EB"/>
          </a:solidFill>
          <a:ln w="12700">
            <a:solidFill>
              <a:srgbClr val="2563EB"/>
            </a:solidFill>
            <a:prstDash val="solid"/>
          </a:ln>
        </p:spPr>
      </p:sp>
      <p:sp>
        <p:nvSpPr>
          <p:cNvPr id="28" name="Text 26"/>
          <p:cNvSpPr txBox="1"/>
          <p:nvPr/>
        </p:nvSpPr>
        <p:spPr>
          <a:xfrm>
            <a:off x="2880360" y="1261872"/>
            <a:ext cx="914400" cy="201168"/>
          </a:xfrm>
          <a:prstGeom prst="rect">
            <a:avLst/>
          </a:prstGeom>
          <a:noFill/>
          <a:ln/>
        </p:spPr>
        <p:txBody>
          <a:bodyPr wrap="square" lIns="25400" tIns="25400" rIns="25400" bIns="2540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Root Agent</a:t>
            </a:r>
            <a:endParaRPr lang="en-US" sz="800" dirty="0"/>
          </a:p>
        </p:txBody>
      </p:sp>
      <p:sp>
        <p:nvSpPr>
          <p:cNvPr id="29" name="Text 27"/>
          <p:cNvSpPr txBox="1"/>
          <p:nvPr/>
        </p:nvSpPr>
        <p:spPr>
          <a:xfrm>
            <a:off x="2926080" y="1499616"/>
            <a:ext cx="6309360" cy="310896"/>
          </a:xfrm>
          <a:prstGeom prst="rect">
            <a:avLst/>
          </a:prstGeom>
          <a:noFill/>
          <a:ln/>
        </p:spPr>
        <p:txBody>
          <a:bodyPr wrap="square" lIns="25400" tIns="25400" rIns="25400" bIns="25400" rtlCol="0" anchor="ctr"/>
          <a:lstStyle/>
          <a:p>
            <a:pPr algn="ctr" indent="0" marL="0">
              <a:buNone/>
            </a:pPr>
            <a:r>
              <a:rPr lang="en-US" sz="1300" b="1" dirty="0">
                <a:solidFill>
                  <a:srgbClr val="1F3A8A"/>
                </a:solidFill>
                <a:latin typeface="Calibri" pitchFamily="34" charset="0"/>
                <a:ea typeface="Calibri" pitchFamily="34" charset="-122"/>
                <a:cs typeface="Calibri" pitchFamily="34" charset="-120"/>
              </a:rPr>
              <a:t>LaunchKit Provisioner (Orchestrator)</a:t>
            </a:r>
            <a:endParaRPr lang="en-US" sz="1300" dirty="0"/>
          </a:p>
        </p:txBody>
      </p:sp>
      <p:sp>
        <p:nvSpPr>
          <p:cNvPr id="30" name="Shape 28"/>
          <p:cNvSpPr/>
          <p:nvPr/>
        </p:nvSpPr>
        <p:spPr>
          <a:xfrm>
            <a:off x="2971800" y="1847088"/>
            <a:ext cx="6217920" cy="457200"/>
          </a:xfrm>
          <a:prstGeom prst="roundRect">
            <a:avLst>
              <a:gd name="adj" fmla="val 12000"/>
            </a:avLst>
          </a:prstGeom>
          <a:solidFill>
            <a:srgbClr val="FFFFFF"/>
          </a:solidFill>
          <a:ln w="12700">
            <a:solidFill>
              <a:srgbClr val="93A8D8"/>
            </a:solidFill>
            <a:prstDash val="solid"/>
          </a:ln>
        </p:spPr>
      </p:sp>
      <p:sp>
        <p:nvSpPr>
          <p:cNvPr id="31" name="Text 29"/>
          <p:cNvSpPr txBox="1"/>
          <p:nvPr/>
        </p:nvSpPr>
        <p:spPr>
          <a:xfrm>
            <a:off x="3017520" y="1865376"/>
            <a:ext cx="6126480" cy="420624"/>
          </a:xfrm>
          <a:prstGeom prst="rect">
            <a:avLst/>
          </a:prstGeom>
          <a:noFill/>
          <a:ln/>
        </p:spPr>
        <p:txBody>
          <a:bodyPr wrap="square" lIns="25400" tIns="25400" rIns="25400" bIns="25400" rtlCol="0" anchor="ctr"/>
          <a:lstStyle/>
          <a:p>
            <a:pPr algn="ctr" indent="0" marL="0">
              <a:buNone/>
            </a:pPr>
            <a:r>
              <a:rPr lang="en-US" sz="850" b="1" dirty="0">
                <a:solidFill>
                  <a:srgbClr val="1F3A8A"/>
                </a:solidFill>
                <a:latin typeface="Calibri" pitchFamily="34" charset="0"/>
                <a:ea typeface="Calibri" pitchFamily="34" charset="-122"/>
                <a:cs typeface="Calibri" pitchFamily="34" charset="-120"/>
              </a:rPr>
              <a:t>Responsibilities of this single agent:  </a:t>
            </a:r>
            <a:pPr algn="ctr" indent="0" marL="0">
              <a:buNone/>
            </a:pPr>
            <a:r>
              <a:rPr lang="en-US" sz="850" dirty="0">
                <a:solidFill>
                  <a:srgbClr val="1E293B"/>
                </a:solidFill>
                <a:latin typeface="Calibri" pitchFamily="34" charset="0"/>
                <a:ea typeface="Calibri" pitchFamily="34" charset="-122"/>
                <a:cs typeface="Calibri" pitchFamily="34" charset="-120"/>
              </a:rPr>
              <a:t>Hello card  •  Coordination  •  3-choices table  •  Sign-off gate (automatic, VP, CMO)  •  Order story &amp; status</a:t>
            </a:r>
            <a:endParaRPr lang="en-US" sz="850" dirty="0"/>
          </a:p>
        </p:txBody>
      </p:sp>
      <p:sp>
        <p:nvSpPr>
          <p:cNvPr id="32" name="Shape 30"/>
          <p:cNvSpPr/>
          <p:nvPr/>
        </p:nvSpPr>
        <p:spPr>
          <a:xfrm>
            <a:off x="2834640" y="2560320"/>
            <a:ext cx="6492240" cy="1874520"/>
          </a:xfrm>
          <a:prstGeom prst="rect">
            <a:avLst/>
          </a:prstGeom>
          <a:solidFill>
            <a:srgbClr val="E8F0FF"/>
          </a:solidFill>
          <a:ln w="12700">
            <a:solidFill>
              <a:srgbClr val="93A8D8"/>
            </a:solidFill>
            <a:prstDash val="dash"/>
          </a:ln>
        </p:spPr>
      </p:sp>
      <p:sp>
        <p:nvSpPr>
          <p:cNvPr id="33" name="Shape 31"/>
          <p:cNvSpPr/>
          <p:nvPr/>
        </p:nvSpPr>
        <p:spPr>
          <a:xfrm>
            <a:off x="2880360" y="2496312"/>
            <a:ext cx="2743200" cy="201168"/>
          </a:xfrm>
          <a:prstGeom prst="roundRect">
            <a:avLst>
              <a:gd name="adj" fmla="val 22727"/>
            </a:avLst>
          </a:prstGeom>
          <a:solidFill>
            <a:srgbClr val="2563EB"/>
          </a:solidFill>
          <a:ln w="12700">
            <a:solidFill>
              <a:srgbClr val="2563EB"/>
            </a:solidFill>
            <a:prstDash val="solid"/>
          </a:ln>
        </p:spPr>
      </p:sp>
      <p:sp>
        <p:nvSpPr>
          <p:cNvPr id="34" name="Text 32"/>
          <p:cNvSpPr txBox="1"/>
          <p:nvPr/>
        </p:nvSpPr>
        <p:spPr>
          <a:xfrm>
            <a:off x="2880360" y="2496312"/>
            <a:ext cx="2743200" cy="201168"/>
          </a:xfrm>
          <a:prstGeom prst="rect">
            <a:avLst/>
          </a:prstGeom>
          <a:noFill/>
          <a:ln/>
        </p:spPr>
        <p:txBody>
          <a:bodyPr wrap="square" lIns="25400" tIns="25400" rIns="25400" bIns="2540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3 Sub Agents (called by the root as tools)</a:t>
            </a:r>
            <a:endParaRPr lang="en-US" sz="800" dirty="0"/>
          </a:p>
        </p:txBody>
      </p:sp>
      <p:sp>
        <p:nvSpPr>
          <p:cNvPr id="35" name="Shape 33"/>
          <p:cNvSpPr/>
          <p:nvPr/>
        </p:nvSpPr>
        <p:spPr>
          <a:xfrm>
            <a:off x="2926080" y="2788920"/>
            <a:ext cx="2057400" cy="1554480"/>
          </a:xfrm>
          <a:prstGeom prst="rect">
            <a:avLst/>
          </a:prstGeom>
          <a:solidFill>
            <a:srgbClr val="F0F7FF"/>
          </a:solidFill>
          <a:ln w="12700">
            <a:solidFill>
              <a:srgbClr val="93A8D8"/>
            </a:solidFill>
            <a:prstDash val="solid"/>
          </a:ln>
        </p:spPr>
      </p:sp>
      <p:sp>
        <p:nvSpPr>
          <p:cNvPr id="36" name="Text 34"/>
          <p:cNvSpPr txBox="1"/>
          <p:nvPr/>
        </p:nvSpPr>
        <p:spPr>
          <a:xfrm>
            <a:off x="2971800" y="2816352"/>
            <a:ext cx="1965960" cy="256032"/>
          </a:xfrm>
          <a:prstGeom prst="rect">
            <a:avLst/>
          </a:prstGeom>
          <a:noFill/>
          <a:ln/>
        </p:spPr>
        <p:txBody>
          <a:bodyPr wrap="square" lIns="25400" tIns="25400" rIns="25400" bIns="25400" rtlCol="0" anchor="ctr"/>
          <a:lstStyle/>
          <a:p>
            <a:pPr algn="ctr" indent="0" marL="0">
              <a:buNone/>
            </a:pPr>
            <a:r>
              <a:rPr lang="en-US" sz="1000" b="1" dirty="0">
                <a:solidFill>
                  <a:srgbClr val="6D28D9"/>
                </a:solidFill>
                <a:latin typeface="Calibri" pitchFamily="34" charset="0"/>
                <a:ea typeface="Calibri" pitchFamily="34" charset="-122"/>
                <a:cs typeface="Calibri" pitchFamily="34" charset="-120"/>
              </a:rPr>
              <a:t>1. Brief Analyst</a:t>
            </a:r>
            <a:endParaRPr lang="en-US" sz="1000" dirty="0"/>
          </a:p>
        </p:txBody>
      </p:sp>
      <p:sp>
        <p:nvSpPr>
          <p:cNvPr id="37" name="Text 35"/>
          <p:cNvSpPr txBox="1"/>
          <p:nvPr/>
        </p:nvSpPr>
        <p:spPr>
          <a:xfrm>
            <a:off x="2971800" y="3054096"/>
            <a:ext cx="1965960" cy="201168"/>
          </a:xfrm>
          <a:prstGeom prst="rect">
            <a:avLst/>
          </a:prstGeom>
          <a:noFill/>
          <a:ln/>
        </p:spPr>
        <p:txBody>
          <a:bodyPr wrap="square" lIns="25400" tIns="25400" rIns="25400" bIns="25400" rtlCol="0" anchor="ctr"/>
          <a:lstStyle/>
          <a:p>
            <a:pPr algn="ctr" indent="0" marL="0">
              <a:buNone/>
            </a:pPr>
            <a:r>
              <a:rPr lang="en-US" sz="800" dirty="0">
                <a:solidFill>
                  <a:srgbClr val="6D28D9"/>
                </a:solidFill>
                <a:latin typeface="Calibri" pitchFamily="34" charset="0"/>
                <a:ea typeface="Calibri" pitchFamily="34" charset="-122"/>
                <a:cs typeface="Calibri" pitchFamily="34" charset="-120"/>
              </a:rPr>
              <a:t>(Decompose the brief)</a:t>
            </a:r>
            <a:endParaRPr lang="en-US" sz="800" dirty="0"/>
          </a:p>
        </p:txBody>
      </p:sp>
      <p:sp>
        <p:nvSpPr>
          <p:cNvPr id="38" name="Shape 36"/>
          <p:cNvSpPr/>
          <p:nvPr/>
        </p:nvSpPr>
        <p:spPr>
          <a:xfrm>
            <a:off x="3017520" y="3310128"/>
            <a:ext cx="1874520" cy="960120"/>
          </a:xfrm>
          <a:prstGeom prst="rect">
            <a:avLst/>
          </a:prstGeom>
          <a:solidFill>
            <a:srgbClr val="FFFFFF"/>
          </a:solidFill>
          <a:ln w="12700">
            <a:solidFill>
              <a:srgbClr val="D6E0F5"/>
            </a:solidFill>
            <a:prstDash val="solid"/>
          </a:ln>
        </p:spPr>
      </p:sp>
      <p:sp>
        <p:nvSpPr>
          <p:cNvPr id="39" name="Text 37"/>
          <p:cNvSpPr txBox="1"/>
          <p:nvPr/>
        </p:nvSpPr>
        <p:spPr>
          <a:xfrm>
            <a:off x="3063240" y="3346704"/>
            <a:ext cx="1783080" cy="886968"/>
          </a:xfrm>
          <a:prstGeom prst="rect">
            <a:avLst/>
          </a:prstGeom>
          <a:noFill/>
          <a:ln/>
        </p:spPr>
        <p:txBody>
          <a:bodyPr wrap="square" lIns="25400" tIns="25400" rIns="25400" bIns="25400" rtlCol="0" anchor="ctr"/>
          <a:lstStyle/>
          <a:p>
            <a:pPr marL="342900" indent="-342900">
              <a:buSzPct val="100000"/>
              <a:buChar char="•"/>
            </a:pPr>
            <a:r>
              <a:rPr lang="en-US" sz="850" dirty="0">
                <a:solidFill>
                  <a:srgbClr val="1E293B"/>
                </a:solidFill>
                <a:latin typeface="Calibri" pitchFamily="34" charset="0"/>
                <a:ea typeface="Calibri" pitchFamily="34" charset="-122"/>
                <a:cs typeface="Calibri" pitchFamily="34" charset="-120"/>
              </a:rPr>
              <a:t>Shopping list (Bill of Materials)</a:t>
            </a:r>
            <a:endParaRPr lang="en-US" sz="850" dirty="0"/>
          </a:p>
          <a:p>
            <a:pPr marL="342900" indent="-342900">
              <a:buSzPct val="100000"/>
              <a:buChar char="•"/>
            </a:pPr>
            <a:r>
              <a:rPr lang="en-US" sz="850" dirty="0">
                <a:solidFill>
                  <a:srgbClr val="1E293B"/>
                </a:solidFill>
                <a:latin typeface="Calibri" pitchFamily="34" charset="0"/>
                <a:ea typeface="Calibri" pitchFamily="34" charset="-122"/>
                <a:cs typeface="Calibri" pitchFamily="34" charset="-120"/>
              </a:rPr>
              <a:t>Sizes and plugs from the guest list</a:t>
            </a:r>
            <a:endParaRPr lang="en-US" sz="850" dirty="0"/>
          </a:p>
          <a:p>
            <a:pPr marL="342900" indent="-342900">
              <a:buSzPct val="100000"/>
              <a:buChar char="•"/>
            </a:pPr>
            <a:r>
              <a:rPr lang="en-US" sz="850" dirty="0">
                <a:solidFill>
                  <a:srgbClr val="1E293B"/>
                </a:solidFill>
                <a:latin typeface="Calibri" pitchFamily="34" charset="0"/>
                <a:ea typeface="Calibri" pitchFamily="34" charset="-122"/>
                <a:cs typeface="Calibri" pitchFamily="34" charset="-120"/>
              </a:rPr>
              <a:t>Requirement lines per region</a:t>
            </a:r>
            <a:endParaRPr lang="en-US" sz="850" dirty="0"/>
          </a:p>
        </p:txBody>
      </p:sp>
      <p:sp>
        <p:nvSpPr>
          <p:cNvPr id="40" name="Shape 38"/>
          <p:cNvSpPr/>
          <p:nvPr/>
        </p:nvSpPr>
        <p:spPr>
          <a:xfrm>
            <a:off x="5056632" y="2788920"/>
            <a:ext cx="2057400" cy="1554480"/>
          </a:xfrm>
          <a:prstGeom prst="rect">
            <a:avLst/>
          </a:prstGeom>
          <a:solidFill>
            <a:srgbClr val="F3EEFF"/>
          </a:solidFill>
          <a:ln w="12700">
            <a:solidFill>
              <a:srgbClr val="93A8D8"/>
            </a:solidFill>
            <a:prstDash val="solid"/>
          </a:ln>
        </p:spPr>
      </p:sp>
      <p:sp>
        <p:nvSpPr>
          <p:cNvPr id="41" name="Text 39"/>
          <p:cNvSpPr txBox="1"/>
          <p:nvPr/>
        </p:nvSpPr>
        <p:spPr>
          <a:xfrm>
            <a:off x="5102352" y="2816352"/>
            <a:ext cx="1965960" cy="256032"/>
          </a:xfrm>
          <a:prstGeom prst="rect">
            <a:avLst/>
          </a:prstGeom>
          <a:noFill/>
          <a:ln/>
        </p:spPr>
        <p:txBody>
          <a:bodyPr wrap="square" lIns="25400" tIns="25400" rIns="25400" bIns="25400" rtlCol="0" anchor="ctr"/>
          <a:lstStyle/>
          <a:p>
            <a:pPr algn="ctr" indent="0" marL="0">
              <a:buNone/>
            </a:pPr>
            <a:r>
              <a:rPr lang="en-US" sz="1000" b="1" dirty="0">
                <a:solidFill>
                  <a:srgbClr val="6D28D9"/>
                </a:solidFill>
                <a:latin typeface="Calibri" pitchFamily="34" charset="0"/>
                <a:ea typeface="Calibri" pitchFamily="34" charset="-122"/>
                <a:cs typeface="Calibri" pitchFamily="34" charset="-120"/>
              </a:rPr>
              <a:t>2. Sourcing Planner</a:t>
            </a:r>
            <a:endParaRPr lang="en-US" sz="1000" dirty="0"/>
          </a:p>
        </p:txBody>
      </p:sp>
      <p:sp>
        <p:nvSpPr>
          <p:cNvPr id="42" name="Text 40"/>
          <p:cNvSpPr txBox="1"/>
          <p:nvPr/>
        </p:nvSpPr>
        <p:spPr>
          <a:xfrm>
            <a:off x="5102352" y="3054096"/>
            <a:ext cx="1965960" cy="201168"/>
          </a:xfrm>
          <a:prstGeom prst="rect">
            <a:avLst/>
          </a:prstGeom>
          <a:noFill/>
          <a:ln/>
        </p:spPr>
        <p:txBody>
          <a:bodyPr wrap="square" lIns="25400" tIns="25400" rIns="25400" bIns="25400" rtlCol="0" anchor="ctr"/>
          <a:lstStyle/>
          <a:p>
            <a:pPr algn="ctr" indent="0" marL="0">
              <a:buNone/>
            </a:pPr>
            <a:r>
              <a:rPr lang="en-US" sz="800" dirty="0">
                <a:solidFill>
                  <a:srgbClr val="6D28D9"/>
                </a:solidFill>
                <a:latin typeface="Calibri" pitchFamily="34" charset="0"/>
                <a:ea typeface="Calibri" pitchFamily="34" charset="-122"/>
                <a:cs typeface="Calibri" pitchFamily="34" charset="-120"/>
              </a:rPr>
              <a:t>(Compute 3 options)</a:t>
            </a:r>
            <a:endParaRPr lang="en-US" sz="800" dirty="0"/>
          </a:p>
        </p:txBody>
      </p:sp>
      <p:sp>
        <p:nvSpPr>
          <p:cNvPr id="43" name="Shape 41"/>
          <p:cNvSpPr/>
          <p:nvPr/>
        </p:nvSpPr>
        <p:spPr>
          <a:xfrm>
            <a:off x="5148072" y="3310128"/>
            <a:ext cx="1874520" cy="960120"/>
          </a:xfrm>
          <a:prstGeom prst="rect">
            <a:avLst/>
          </a:prstGeom>
          <a:solidFill>
            <a:srgbClr val="FFFFFF"/>
          </a:solidFill>
          <a:ln w="12700">
            <a:solidFill>
              <a:srgbClr val="D6E0F5"/>
            </a:solidFill>
            <a:prstDash val="solid"/>
          </a:ln>
        </p:spPr>
      </p:sp>
      <p:sp>
        <p:nvSpPr>
          <p:cNvPr id="44" name="Text 42"/>
          <p:cNvSpPr txBox="1"/>
          <p:nvPr/>
        </p:nvSpPr>
        <p:spPr>
          <a:xfrm>
            <a:off x="5193792" y="3346704"/>
            <a:ext cx="1783080" cy="886968"/>
          </a:xfrm>
          <a:prstGeom prst="rect">
            <a:avLst/>
          </a:prstGeom>
          <a:noFill/>
          <a:ln/>
        </p:spPr>
        <p:txBody>
          <a:bodyPr wrap="square" lIns="25400" tIns="25400" rIns="25400" bIns="25400" rtlCol="0" anchor="ctr"/>
          <a:lstStyle/>
          <a:p>
            <a:pPr marL="342900" indent="-342900">
              <a:buSzPct val="100000"/>
              <a:buChar char="•"/>
            </a:pPr>
            <a:r>
              <a:rPr lang="en-US" sz="850" dirty="0">
                <a:solidFill>
                  <a:srgbClr val="1E293B"/>
                </a:solidFill>
                <a:latin typeface="Calibri" pitchFamily="34" charset="0"/>
                <a:ea typeface="Calibri" pitchFamily="34" charset="-122"/>
                <a:cs typeface="Calibri" pitchFamily="34" charset="-120"/>
              </a:rPr>
              <a:t>Vendor comparison report</a:t>
            </a:r>
            <a:endParaRPr lang="en-US" sz="850" dirty="0"/>
          </a:p>
          <a:p>
            <a:pPr marL="342900" indent="-342900">
              <a:buSzPct val="100000"/>
              <a:buChar char="•"/>
            </a:pPr>
            <a:r>
              <a:rPr lang="en-US" sz="850" dirty="0">
                <a:solidFill>
                  <a:srgbClr val="1E293B"/>
                </a:solidFill>
                <a:latin typeface="Calibri" pitchFamily="34" charset="0"/>
                <a:ea typeface="Calibri" pitchFamily="34" charset="-122"/>
                <a:cs typeface="Calibri" pitchFamily="34" charset="-120"/>
              </a:rPr>
              <a:t>Reuse our own stock first</a:t>
            </a:r>
            <a:endParaRPr lang="en-US" sz="850" dirty="0"/>
          </a:p>
          <a:p>
            <a:pPr marL="342900" indent="-342900">
              <a:buSzPct val="100000"/>
              <a:buChar char="•"/>
            </a:pPr>
            <a:r>
              <a:rPr lang="en-US" sz="850" dirty="0">
                <a:solidFill>
                  <a:srgbClr val="1E293B"/>
                </a:solidFill>
                <a:latin typeface="Calibri" pitchFamily="34" charset="0"/>
                <a:ea typeface="Calibri" pitchFamily="34" charset="-122"/>
                <a:cs typeface="Calibri" pitchFamily="34" charset="-120"/>
              </a:rPr>
              <a:t>Price, spare time, pollution</a:t>
            </a:r>
            <a:endParaRPr lang="en-US" sz="850" dirty="0"/>
          </a:p>
        </p:txBody>
      </p:sp>
      <p:sp>
        <p:nvSpPr>
          <p:cNvPr id="45" name="Shape 43"/>
          <p:cNvSpPr/>
          <p:nvPr/>
        </p:nvSpPr>
        <p:spPr>
          <a:xfrm>
            <a:off x="7187184" y="2788920"/>
            <a:ext cx="2057400" cy="1554480"/>
          </a:xfrm>
          <a:prstGeom prst="rect">
            <a:avLst/>
          </a:prstGeom>
          <a:solidFill>
            <a:srgbClr val="FFF7ED"/>
          </a:solidFill>
          <a:ln w="12700">
            <a:solidFill>
              <a:srgbClr val="93A8D8"/>
            </a:solidFill>
            <a:prstDash val="solid"/>
          </a:ln>
        </p:spPr>
      </p:sp>
      <p:sp>
        <p:nvSpPr>
          <p:cNvPr id="46" name="Text 44"/>
          <p:cNvSpPr txBox="1"/>
          <p:nvPr/>
        </p:nvSpPr>
        <p:spPr>
          <a:xfrm>
            <a:off x="7232904" y="2816352"/>
            <a:ext cx="1965960" cy="256032"/>
          </a:xfrm>
          <a:prstGeom prst="rect">
            <a:avLst/>
          </a:prstGeom>
          <a:noFill/>
          <a:ln/>
        </p:spPr>
        <p:txBody>
          <a:bodyPr wrap="square" lIns="25400" tIns="25400" rIns="25400" bIns="25400" rtlCol="0" anchor="ctr"/>
          <a:lstStyle/>
          <a:p>
            <a:pPr algn="ctr" indent="0" marL="0">
              <a:buNone/>
            </a:pPr>
            <a:r>
              <a:rPr lang="en-US" sz="1000" b="1" dirty="0">
                <a:solidFill>
                  <a:srgbClr val="6D28D9"/>
                </a:solidFill>
                <a:latin typeface="Calibri" pitchFamily="34" charset="0"/>
                <a:ea typeface="Calibri" pitchFamily="34" charset="-122"/>
                <a:cs typeface="Calibri" pitchFamily="34" charset="-120"/>
              </a:rPr>
              <a:t>3. Fulfilment Agent</a:t>
            </a:r>
            <a:endParaRPr lang="en-US" sz="1000" dirty="0"/>
          </a:p>
        </p:txBody>
      </p:sp>
      <p:sp>
        <p:nvSpPr>
          <p:cNvPr id="47" name="Text 45"/>
          <p:cNvSpPr txBox="1"/>
          <p:nvPr/>
        </p:nvSpPr>
        <p:spPr>
          <a:xfrm>
            <a:off x="7232904" y="3054096"/>
            <a:ext cx="1965960" cy="201168"/>
          </a:xfrm>
          <a:prstGeom prst="rect">
            <a:avLst/>
          </a:prstGeom>
          <a:noFill/>
          <a:ln/>
        </p:spPr>
        <p:txBody>
          <a:bodyPr wrap="square" lIns="25400" tIns="25400" rIns="25400" bIns="25400" rtlCol="0" anchor="ctr"/>
          <a:lstStyle/>
          <a:p>
            <a:pPr algn="ctr" indent="0" marL="0">
              <a:buNone/>
            </a:pPr>
            <a:r>
              <a:rPr lang="en-US" sz="800" dirty="0">
                <a:solidFill>
                  <a:srgbClr val="6D28D9"/>
                </a:solidFill>
                <a:latin typeface="Calibri" pitchFamily="34" charset="0"/>
                <a:ea typeface="Calibri" pitchFamily="34" charset="-122"/>
                <a:cs typeface="Calibri" pitchFamily="34" charset="-120"/>
              </a:rPr>
              <a:t>(Place the orders)</a:t>
            </a:r>
            <a:endParaRPr lang="en-US" sz="800" dirty="0"/>
          </a:p>
        </p:txBody>
      </p:sp>
      <p:sp>
        <p:nvSpPr>
          <p:cNvPr id="48" name="Shape 46"/>
          <p:cNvSpPr/>
          <p:nvPr/>
        </p:nvSpPr>
        <p:spPr>
          <a:xfrm>
            <a:off x="7278624" y="3310128"/>
            <a:ext cx="1874520" cy="960120"/>
          </a:xfrm>
          <a:prstGeom prst="rect">
            <a:avLst/>
          </a:prstGeom>
          <a:solidFill>
            <a:srgbClr val="FFFFFF"/>
          </a:solidFill>
          <a:ln w="12700">
            <a:solidFill>
              <a:srgbClr val="D6E0F5"/>
            </a:solidFill>
            <a:prstDash val="solid"/>
          </a:ln>
        </p:spPr>
      </p:sp>
      <p:sp>
        <p:nvSpPr>
          <p:cNvPr id="49" name="Text 47"/>
          <p:cNvSpPr txBox="1"/>
          <p:nvPr/>
        </p:nvSpPr>
        <p:spPr>
          <a:xfrm>
            <a:off x="7324344" y="3346704"/>
            <a:ext cx="1783080" cy="886968"/>
          </a:xfrm>
          <a:prstGeom prst="rect">
            <a:avLst/>
          </a:prstGeom>
          <a:noFill/>
          <a:ln/>
        </p:spPr>
        <p:txBody>
          <a:bodyPr wrap="square" lIns="25400" tIns="25400" rIns="25400" bIns="25400" rtlCol="0" anchor="ctr"/>
          <a:lstStyle/>
          <a:p>
            <a:pPr marL="342900" indent="-342900">
              <a:buSzPct val="100000"/>
              <a:buChar char="•"/>
            </a:pPr>
            <a:r>
              <a:rPr lang="en-US" sz="850" dirty="0">
                <a:solidFill>
                  <a:srgbClr val="1E293B"/>
                </a:solidFill>
                <a:latin typeface="Calibri" pitchFamily="34" charset="0"/>
                <a:ea typeface="Calibri" pitchFamily="34" charset="-122"/>
                <a:cs typeface="Calibri" pitchFamily="34" charset="-120"/>
              </a:rPr>
              <a:t>PO per vendor line (App Integration)</a:t>
            </a:r>
            <a:endParaRPr lang="en-US" sz="850" dirty="0"/>
          </a:p>
          <a:p>
            <a:pPr marL="342900" indent="-342900">
              <a:buSzPct val="100000"/>
              <a:buChar char="•"/>
            </a:pPr>
            <a:r>
              <a:rPr lang="en-US" sz="850" dirty="0">
                <a:solidFill>
                  <a:srgbClr val="1E293B"/>
                </a:solidFill>
                <a:latin typeface="Calibri" pitchFamily="34" charset="0"/>
                <a:ea typeface="Calibri" pitchFamily="34" charset="-122"/>
                <a:cs typeface="Calibri" pitchFamily="34" charset="-120"/>
              </a:rPr>
              <a:t>Warehouse move per surplus line</a:t>
            </a:r>
            <a:endParaRPr lang="en-US" sz="850" dirty="0"/>
          </a:p>
          <a:p>
            <a:pPr marL="342900" indent="-342900">
              <a:buSzPct val="100000"/>
              <a:buChar char="•"/>
            </a:pPr>
            <a:r>
              <a:rPr lang="en-US" sz="850" dirty="0">
                <a:solidFill>
                  <a:srgbClr val="1E293B"/>
                </a:solidFill>
                <a:latin typeface="Calibri" pitchFamily="34" charset="0"/>
                <a:ea typeface="Calibri" pitchFamily="34" charset="-122"/>
                <a:cs typeface="Calibri" pitchFamily="34" charset="-120"/>
              </a:rPr>
              <a:t>HTML update + order story</a:t>
            </a:r>
            <a:endParaRPr lang="en-US" sz="850" dirty="0"/>
          </a:p>
        </p:txBody>
      </p:sp>
      <p:sp>
        <p:nvSpPr>
          <p:cNvPr id="50" name="Shape 48"/>
          <p:cNvSpPr/>
          <p:nvPr/>
        </p:nvSpPr>
        <p:spPr>
          <a:xfrm>
            <a:off x="6080760" y="2240280"/>
            <a:ext cx="0" cy="320040"/>
          </a:xfrm>
          <a:prstGeom prst="line">
            <a:avLst/>
          </a:prstGeom>
          <a:noFill/>
          <a:ln w="19050">
            <a:solidFill>
              <a:srgbClr val="2563EB"/>
            </a:solidFill>
            <a:prstDash val="solid"/>
            <a:headEnd type="triangle"/>
            <a:tailEnd type="triangle"/>
          </a:ln>
        </p:spPr>
      </p:sp>
      <p:sp>
        <p:nvSpPr>
          <p:cNvPr id="51" name="Shape 49"/>
          <p:cNvSpPr/>
          <p:nvPr/>
        </p:nvSpPr>
        <p:spPr>
          <a:xfrm>
            <a:off x="2834640" y="4526280"/>
            <a:ext cx="6492240" cy="731520"/>
          </a:xfrm>
          <a:prstGeom prst="rect">
            <a:avLst/>
          </a:prstGeom>
          <a:solidFill>
            <a:srgbClr val="EFF4FF"/>
          </a:solidFill>
          <a:ln w="12700">
            <a:solidFill>
              <a:srgbClr val="93A8D8"/>
            </a:solidFill>
            <a:prstDash val="solid"/>
          </a:ln>
        </p:spPr>
      </p:sp>
      <p:sp>
        <p:nvSpPr>
          <p:cNvPr id="52" name="Text 50"/>
          <p:cNvSpPr txBox="1"/>
          <p:nvPr/>
        </p:nvSpPr>
        <p:spPr>
          <a:xfrm>
            <a:off x="2834640" y="4526280"/>
            <a:ext cx="6492240" cy="228600"/>
          </a:xfrm>
          <a:prstGeom prst="rect">
            <a:avLst/>
          </a:prstGeom>
          <a:noFill/>
          <a:ln/>
        </p:spPr>
        <p:txBody>
          <a:bodyPr wrap="square" lIns="25400" tIns="25400" rIns="25400" bIns="25400" rtlCol="0" anchor="ctr"/>
          <a:lstStyle/>
          <a:p>
            <a:pPr algn="ctr" indent="0" marL="0">
              <a:buNone/>
            </a:pPr>
            <a:r>
              <a:rPr lang="en-US" sz="900" b="1" dirty="0">
                <a:solidFill>
                  <a:srgbClr val="1F3A8A"/>
                </a:solidFill>
                <a:latin typeface="Calibri" pitchFamily="34" charset="0"/>
                <a:ea typeface="Calibri" pitchFamily="34" charset="-122"/>
                <a:cs typeface="Calibri" pitchFamily="34" charset="-120"/>
              </a:rPr>
              <a:t>Memory &amp; Knowledge Layer</a:t>
            </a:r>
            <a:endParaRPr lang="en-US" sz="900" dirty="0"/>
          </a:p>
        </p:txBody>
      </p:sp>
      <p:sp>
        <p:nvSpPr>
          <p:cNvPr id="53" name="Shape 51"/>
          <p:cNvSpPr/>
          <p:nvPr/>
        </p:nvSpPr>
        <p:spPr>
          <a:xfrm>
            <a:off x="3017520" y="4754880"/>
            <a:ext cx="1965960" cy="457200"/>
          </a:xfrm>
          <a:prstGeom prst="roundRect">
            <a:avLst>
              <a:gd name="adj" fmla="val 12000"/>
            </a:avLst>
          </a:prstGeom>
          <a:solidFill>
            <a:srgbClr val="FFFFFF"/>
          </a:solidFill>
          <a:ln w="12700">
            <a:solidFill>
              <a:srgbClr val="93A8D8"/>
            </a:solidFill>
            <a:prstDash val="solid"/>
          </a:ln>
        </p:spPr>
      </p:sp>
      <p:sp>
        <p:nvSpPr>
          <p:cNvPr id="54" name="Text 52"/>
          <p:cNvSpPr txBox="1"/>
          <p:nvPr/>
        </p:nvSpPr>
        <p:spPr>
          <a:xfrm>
            <a:off x="3063240" y="4791456"/>
            <a:ext cx="1874520" cy="205740"/>
          </a:xfrm>
          <a:prstGeom prst="rect">
            <a:avLst/>
          </a:prstGeom>
          <a:noFill/>
          <a:ln/>
        </p:spPr>
        <p:txBody>
          <a:bodyPr wrap="square" lIns="25400" tIns="25400" rIns="25400" bIns="25400" rtlCol="0" anchor="ctr"/>
          <a:lstStyle/>
          <a:p>
            <a:pPr algn="ctr" indent="0" marL="0">
              <a:buNone/>
            </a:pPr>
            <a:r>
              <a:rPr lang="en-US" sz="800" b="1" dirty="0">
                <a:solidFill>
                  <a:srgbClr val="1E293B"/>
                </a:solidFill>
                <a:latin typeface="Calibri" pitchFamily="34" charset="0"/>
                <a:ea typeface="Calibri" pitchFamily="34" charset="-122"/>
                <a:cs typeface="Calibri" pitchFamily="34" charset="-120"/>
              </a:rPr>
              <a:t>Scenarios &amp; plan lines (BigQuery)</a:t>
            </a:r>
            <a:endParaRPr lang="en-US" sz="800" dirty="0"/>
          </a:p>
        </p:txBody>
      </p:sp>
      <p:sp>
        <p:nvSpPr>
          <p:cNvPr id="55" name="Text 53"/>
          <p:cNvSpPr txBox="1"/>
          <p:nvPr/>
        </p:nvSpPr>
        <p:spPr>
          <a:xfrm>
            <a:off x="3063240" y="4969764"/>
            <a:ext cx="1874520" cy="228600"/>
          </a:xfrm>
          <a:prstGeom prst="rect">
            <a:avLst/>
          </a:prstGeom>
          <a:noFill/>
          <a:ln/>
        </p:spPr>
        <p:txBody>
          <a:bodyPr wrap="square" lIns="25400" tIns="25400" rIns="25400" bIns="25400" rtlCol="0" anchor="t"/>
          <a:lstStyle/>
          <a:p>
            <a:pPr algn="ctr" indent="0" marL="0">
              <a:buNone/>
            </a:pPr>
            <a:r>
              <a:rPr lang="en-US" sz="750" dirty="0">
                <a:solidFill>
                  <a:srgbClr val="64748B"/>
                </a:solidFill>
                <a:latin typeface="Calibri" pitchFamily="34" charset="0"/>
                <a:ea typeface="Calibri" pitchFamily="34" charset="-122"/>
                <a:cs typeface="Calibri" pitchFamily="34" charset="-120"/>
              </a:rPr>
              <a:t>Computed options per request</a:t>
            </a:r>
            <a:endParaRPr lang="en-US" sz="750" dirty="0"/>
          </a:p>
        </p:txBody>
      </p:sp>
      <p:sp>
        <p:nvSpPr>
          <p:cNvPr id="56" name="Shape 54"/>
          <p:cNvSpPr/>
          <p:nvPr/>
        </p:nvSpPr>
        <p:spPr>
          <a:xfrm>
            <a:off x="5074920" y="4754880"/>
            <a:ext cx="1965960" cy="457200"/>
          </a:xfrm>
          <a:prstGeom prst="roundRect">
            <a:avLst>
              <a:gd name="adj" fmla="val 12000"/>
            </a:avLst>
          </a:prstGeom>
          <a:solidFill>
            <a:srgbClr val="FFFFFF"/>
          </a:solidFill>
          <a:ln w="12700">
            <a:solidFill>
              <a:srgbClr val="93A8D8"/>
            </a:solidFill>
            <a:prstDash val="solid"/>
          </a:ln>
        </p:spPr>
      </p:sp>
      <p:sp>
        <p:nvSpPr>
          <p:cNvPr id="57" name="Text 55"/>
          <p:cNvSpPr txBox="1"/>
          <p:nvPr/>
        </p:nvSpPr>
        <p:spPr>
          <a:xfrm>
            <a:off x="5120640" y="4791456"/>
            <a:ext cx="1874520" cy="205740"/>
          </a:xfrm>
          <a:prstGeom prst="rect">
            <a:avLst/>
          </a:prstGeom>
          <a:noFill/>
          <a:ln/>
        </p:spPr>
        <p:txBody>
          <a:bodyPr wrap="square" lIns="25400" tIns="25400" rIns="25400" bIns="25400" rtlCol="0" anchor="ctr"/>
          <a:lstStyle/>
          <a:p>
            <a:pPr algn="ctr" indent="0" marL="0">
              <a:buNone/>
            </a:pPr>
            <a:r>
              <a:rPr lang="en-US" sz="800" b="1" dirty="0">
                <a:solidFill>
                  <a:srgbClr val="1E293B"/>
                </a:solidFill>
                <a:latin typeface="Calibri" pitchFamily="34" charset="0"/>
                <a:ea typeface="Calibri" pitchFamily="34" charset="-122"/>
                <a:cs typeface="Calibri" pitchFamily="34" charset="-120"/>
              </a:rPr>
              <a:t>Agent Engine Sessions</a:t>
            </a:r>
            <a:endParaRPr lang="en-US" sz="800" dirty="0"/>
          </a:p>
        </p:txBody>
      </p:sp>
      <p:sp>
        <p:nvSpPr>
          <p:cNvPr id="58" name="Text 56"/>
          <p:cNvSpPr txBox="1"/>
          <p:nvPr/>
        </p:nvSpPr>
        <p:spPr>
          <a:xfrm>
            <a:off x="5120640" y="4969764"/>
            <a:ext cx="1874520" cy="228600"/>
          </a:xfrm>
          <a:prstGeom prst="rect">
            <a:avLst/>
          </a:prstGeom>
          <a:noFill/>
          <a:ln/>
        </p:spPr>
        <p:txBody>
          <a:bodyPr wrap="square" lIns="25400" tIns="25400" rIns="25400" bIns="25400" rtlCol="0" anchor="t"/>
          <a:lstStyle/>
          <a:p>
            <a:pPr algn="ctr" indent="0" marL="0">
              <a:buNone/>
            </a:pPr>
            <a:r>
              <a:rPr lang="en-US" sz="750" dirty="0">
                <a:solidFill>
                  <a:srgbClr val="64748B"/>
                </a:solidFill>
                <a:latin typeface="Calibri" pitchFamily="34" charset="0"/>
                <a:ea typeface="Calibri" pitchFamily="34" charset="-122"/>
                <a:cs typeface="Calibri" pitchFamily="34" charset="-120"/>
              </a:rPr>
              <a:t>Chat state</a:t>
            </a:r>
            <a:endParaRPr lang="en-US" sz="750" dirty="0"/>
          </a:p>
        </p:txBody>
      </p:sp>
      <p:sp>
        <p:nvSpPr>
          <p:cNvPr id="59" name="Shape 57"/>
          <p:cNvSpPr/>
          <p:nvPr/>
        </p:nvSpPr>
        <p:spPr>
          <a:xfrm>
            <a:off x="7132320" y="4754880"/>
            <a:ext cx="1965960" cy="457200"/>
          </a:xfrm>
          <a:prstGeom prst="roundRect">
            <a:avLst>
              <a:gd name="adj" fmla="val 12000"/>
            </a:avLst>
          </a:prstGeom>
          <a:solidFill>
            <a:srgbClr val="FFFFFF"/>
          </a:solidFill>
          <a:ln w="12700">
            <a:solidFill>
              <a:srgbClr val="93A8D8"/>
            </a:solidFill>
            <a:prstDash val="solid"/>
          </a:ln>
        </p:spPr>
      </p:sp>
      <p:sp>
        <p:nvSpPr>
          <p:cNvPr id="60" name="Text 58"/>
          <p:cNvSpPr txBox="1"/>
          <p:nvPr/>
        </p:nvSpPr>
        <p:spPr>
          <a:xfrm>
            <a:off x="7178040" y="4791456"/>
            <a:ext cx="1874520" cy="205740"/>
          </a:xfrm>
          <a:prstGeom prst="rect">
            <a:avLst/>
          </a:prstGeom>
          <a:noFill/>
          <a:ln/>
        </p:spPr>
        <p:txBody>
          <a:bodyPr wrap="square" lIns="25400" tIns="25400" rIns="25400" bIns="25400" rtlCol="0" anchor="ctr"/>
          <a:lstStyle/>
          <a:p>
            <a:pPr algn="ctr" indent="0" marL="0">
              <a:buNone/>
            </a:pPr>
            <a:r>
              <a:rPr lang="en-US" sz="800" b="1" dirty="0">
                <a:solidFill>
                  <a:srgbClr val="1E293B"/>
                </a:solidFill>
                <a:latin typeface="Calibri" pitchFamily="34" charset="0"/>
                <a:ea typeface="Calibri" pitchFamily="34" charset="-122"/>
                <a:cs typeface="Calibri" pitchFamily="34" charset="-120"/>
              </a:rPr>
              <a:t>Audit Log (BigQuery)</a:t>
            </a:r>
            <a:endParaRPr lang="en-US" sz="800" dirty="0"/>
          </a:p>
        </p:txBody>
      </p:sp>
      <p:sp>
        <p:nvSpPr>
          <p:cNvPr id="61" name="Text 59"/>
          <p:cNvSpPr txBox="1"/>
          <p:nvPr/>
        </p:nvSpPr>
        <p:spPr>
          <a:xfrm>
            <a:off x="7178040" y="4969764"/>
            <a:ext cx="1874520" cy="228600"/>
          </a:xfrm>
          <a:prstGeom prst="rect">
            <a:avLst/>
          </a:prstGeom>
          <a:noFill/>
          <a:ln/>
        </p:spPr>
        <p:txBody>
          <a:bodyPr wrap="square" lIns="25400" tIns="25400" rIns="25400" bIns="25400" rtlCol="0" anchor="t"/>
          <a:lstStyle/>
          <a:p>
            <a:pPr algn="ctr" indent="0" marL="0">
              <a:buNone/>
            </a:pPr>
            <a:r>
              <a:rPr lang="en-US" sz="750" dirty="0">
                <a:solidFill>
                  <a:srgbClr val="64748B"/>
                </a:solidFill>
                <a:latin typeface="Calibri" pitchFamily="34" charset="0"/>
                <a:ea typeface="Calibri" pitchFamily="34" charset="-122"/>
                <a:cs typeface="Calibri" pitchFamily="34" charset="-120"/>
              </a:rPr>
              <a:t>Every governed action</a:t>
            </a:r>
            <a:endParaRPr lang="en-US" sz="750" dirty="0"/>
          </a:p>
        </p:txBody>
      </p:sp>
      <p:sp>
        <p:nvSpPr>
          <p:cNvPr id="62" name="Shape 60"/>
          <p:cNvSpPr/>
          <p:nvPr/>
        </p:nvSpPr>
        <p:spPr>
          <a:xfrm>
            <a:off x="2834640" y="5321808"/>
            <a:ext cx="6492240" cy="640080"/>
          </a:xfrm>
          <a:prstGeom prst="rect">
            <a:avLst/>
          </a:prstGeom>
          <a:solidFill>
            <a:srgbClr val="EFF4FF"/>
          </a:solidFill>
          <a:ln w="12700">
            <a:solidFill>
              <a:srgbClr val="93A8D8"/>
            </a:solidFill>
            <a:prstDash val="solid"/>
          </a:ln>
        </p:spPr>
      </p:sp>
      <p:sp>
        <p:nvSpPr>
          <p:cNvPr id="63" name="Text 61"/>
          <p:cNvSpPr txBox="1"/>
          <p:nvPr/>
        </p:nvSpPr>
        <p:spPr>
          <a:xfrm>
            <a:off x="2834640" y="5321808"/>
            <a:ext cx="6492240" cy="201168"/>
          </a:xfrm>
          <a:prstGeom prst="rect">
            <a:avLst/>
          </a:prstGeom>
          <a:noFill/>
          <a:ln/>
        </p:spPr>
        <p:txBody>
          <a:bodyPr wrap="square" lIns="25400" tIns="25400" rIns="25400" bIns="25400" rtlCol="0" anchor="ctr"/>
          <a:lstStyle/>
          <a:p>
            <a:pPr algn="ctr" indent="0" marL="0">
              <a:buNone/>
            </a:pPr>
            <a:r>
              <a:rPr lang="en-US" sz="900" b="1" dirty="0">
                <a:solidFill>
                  <a:srgbClr val="1F3A8A"/>
                </a:solidFill>
                <a:latin typeface="Calibri" pitchFamily="34" charset="0"/>
                <a:ea typeface="Calibri" pitchFamily="34" charset="-122"/>
                <a:cs typeface="Calibri" pitchFamily="34" charset="-120"/>
              </a:rPr>
              <a:t>Google Cloud Supporting Services</a:t>
            </a:r>
            <a:endParaRPr lang="en-US" sz="900" dirty="0"/>
          </a:p>
        </p:txBody>
      </p:sp>
      <p:sp>
        <p:nvSpPr>
          <p:cNvPr id="64" name="Shape 62"/>
          <p:cNvSpPr/>
          <p:nvPr/>
        </p:nvSpPr>
        <p:spPr>
          <a:xfrm>
            <a:off x="2926080" y="5513832"/>
            <a:ext cx="987552" cy="457200"/>
          </a:xfrm>
          <a:prstGeom prst="roundRect">
            <a:avLst>
              <a:gd name="adj" fmla="val 12000"/>
            </a:avLst>
          </a:prstGeom>
          <a:solidFill>
            <a:srgbClr val="FFFFFF"/>
          </a:solidFill>
          <a:ln w="12700">
            <a:solidFill>
              <a:srgbClr val="93A8D8"/>
            </a:solidFill>
            <a:prstDash val="solid"/>
          </a:ln>
        </p:spPr>
      </p:sp>
      <p:sp>
        <p:nvSpPr>
          <p:cNvPr id="65" name="Text 63"/>
          <p:cNvSpPr txBox="1"/>
          <p:nvPr/>
        </p:nvSpPr>
        <p:spPr>
          <a:xfrm>
            <a:off x="2971800" y="5550408"/>
            <a:ext cx="896112" cy="205740"/>
          </a:xfrm>
          <a:prstGeom prst="rect">
            <a:avLst/>
          </a:prstGeom>
          <a:noFill/>
          <a:ln/>
        </p:spPr>
        <p:txBody>
          <a:bodyPr wrap="square" lIns="25400" tIns="25400" rIns="25400" bIns="25400" rtlCol="0" anchor="ctr"/>
          <a:lstStyle/>
          <a:p>
            <a:pPr algn="ctr" indent="0" marL="0">
              <a:buNone/>
            </a:pPr>
            <a:r>
              <a:rPr lang="en-US" sz="700" b="1" dirty="0">
                <a:solidFill>
                  <a:srgbClr val="1E293B"/>
                </a:solidFill>
                <a:latin typeface="Calibri" pitchFamily="34" charset="0"/>
                <a:ea typeface="Calibri" pitchFamily="34" charset="-122"/>
                <a:cs typeface="Calibri" pitchFamily="34" charset="-120"/>
              </a:rPr>
              <a:t>IAM</a:t>
            </a:r>
            <a:endParaRPr lang="en-US" sz="700" dirty="0"/>
          </a:p>
        </p:txBody>
      </p:sp>
      <p:sp>
        <p:nvSpPr>
          <p:cNvPr id="66" name="Text 64"/>
          <p:cNvSpPr txBox="1"/>
          <p:nvPr/>
        </p:nvSpPr>
        <p:spPr>
          <a:xfrm>
            <a:off x="2971800" y="5728716"/>
            <a:ext cx="896112" cy="228600"/>
          </a:xfrm>
          <a:prstGeom prst="rect">
            <a:avLst/>
          </a:prstGeom>
          <a:noFill/>
          <a:ln/>
        </p:spPr>
        <p:txBody>
          <a:bodyPr wrap="square" lIns="25400" tIns="25400" rIns="25400" bIns="25400" rtlCol="0" anchor="t"/>
          <a:lstStyle/>
          <a:p>
            <a:pPr algn="ctr" indent="0" marL="0">
              <a:buNone/>
            </a:pPr>
            <a:r>
              <a:rPr lang="en-US" sz="750" dirty="0">
                <a:solidFill>
                  <a:srgbClr val="64748B"/>
                </a:solidFill>
                <a:latin typeface="Calibri" pitchFamily="34" charset="0"/>
                <a:ea typeface="Calibri" pitchFamily="34" charset="-122"/>
                <a:cs typeface="Calibri" pitchFamily="34" charset="-120"/>
              </a:rPr>
              <a:t>Access Control</a:t>
            </a:r>
            <a:endParaRPr lang="en-US" sz="750" dirty="0"/>
          </a:p>
        </p:txBody>
      </p:sp>
      <p:sp>
        <p:nvSpPr>
          <p:cNvPr id="67" name="Shape 65"/>
          <p:cNvSpPr/>
          <p:nvPr/>
        </p:nvSpPr>
        <p:spPr>
          <a:xfrm>
            <a:off x="3977640" y="5513832"/>
            <a:ext cx="987552" cy="457200"/>
          </a:xfrm>
          <a:prstGeom prst="roundRect">
            <a:avLst>
              <a:gd name="adj" fmla="val 12000"/>
            </a:avLst>
          </a:prstGeom>
          <a:solidFill>
            <a:srgbClr val="FFFFFF"/>
          </a:solidFill>
          <a:ln w="12700">
            <a:solidFill>
              <a:srgbClr val="93A8D8"/>
            </a:solidFill>
            <a:prstDash val="solid"/>
          </a:ln>
        </p:spPr>
      </p:sp>
      <p:sp>
        <p:nvSpPr>
          <p:cNvPr id="68" name="Text 66"/>
          <p:cNvSpPr txBox="1"/>
          <p:nvPr/>
        </p:nvSpPr>
        <p:spPr>
          <a:xfrm>
            <a:off x="4023360" y="5550408"/>
            <a:ext cx="896112" cy="205740"/>
          </a:xfrm>
          <a:prstGeom prst="rect">
            <a:avLst/>
          </a:prstGeom>
          <a:noFill/>
          <a:ln/>
        </p:spPr>
        <p:txBody>
          <a:bodyPr wrap="square" lIns="25400" tIns="25400" rIns="25400" bIns="25400" rtlCol="0" anchor="ctr"/>
          <a:lstStyle/>
          <a:p>
            <a:pPr algn="ctr" indent="0" marL="0">
              <a:buNone/>
            </a:pPr>
            <a:r>
              <a:rPr lang="en-US" sz="700" b="1" dirty="0">
                <a:solidFill>
                  <a:srgbClr val="1E293B"/>
                </a:solidFill>
                <a:latin typeface="Calibri" pitchFamily="34" charset="0"/>
                <a:ea typeface="Calibri" pitchFamily="34" charset="-122"/>
                <a:cs typeface="Calibri" pitchFamily="34" charset="-120"/>
              </a:rPr>
              <a:t>Secret Manager</a:t>
            </a:r>
            <a:endParaRPr lang="en-US" sz="700" dirty="0"/>
          </a:p>
        </p:txBody>
      </p:sp>
      <p:sp>
        <p:nvSpPr>
          <p:cNvPr id="69" name="Text 67"/>
          <p:cNvSpPr txBox="1"/>
          <p:nvPr/>
        </p:nvSpPr>
        <p:spPr>
          <a:xfrm>
            <a:off x="4023360" y="5728716"/>
            <a:ext cx="896112" cy="228600"/>
          </a:xfrm>
          <a:prstGeom prst="rect">
            <a:avLst/>
          </a:prstGeom>
          <a:noFill/>
          <a:ln/>
        </p:spPr>
        <p:txBody>
          <a:bodyPr wrap="square" lIns="25400" tIns="25400" rIns="25400" bIns="25400" rtlCol="0" anchor="t"/>
          <a:lstStyle/>
          <a:p>
            <a:pPr algn="ctr" indent="0" marL="0">
              <a:buNone/>
            </a:pPr>
            <a:r>
              <a:rPr lang="en-US" sz="750" dirty="0">
                <a:solidFill>
                  <a:srgbClr val="64748B"/>
                </a:solidFill>
                <a:latin typeface="Calibri" pitchFamily="34" charset="0"/>
                <a:ea typeface="Calibri" pitchFamily="34" charset="-122"/>
                <a:cs typeface="Calibri" pitchFamily="34" charset="-120"/>
              </a:rPr>
              <a:t>Credentials</a:t>
            </a:r>
            <a:endParaRPr lang="en-US" sz="750" dirty="0"/>
          </a:p>
        </p:txBody>
      </p:sp>
      <p:sp>
        <p:nvSpPr>
          <p:cNvPr id="70" name="Shape 68"/>
          <p:cNvSpPr/>
          <p:nvPr/>
        </p:nvSpPr>
        <p:spPr>
          <a:xfrm>
            <a:off x="5029200" y="5513832"/>
            <a:ext cx="987552" cy="457200"/>
          </a:xfrm>
          <a:prstGeom prst="roundRect">
            <a:avLst>
              <a:gd name="adj" fmla="val 12000"/>
            </a:avLst>
          </a:prstGeom>
          <a:solidFill>
            <a:srgbClr val="FFFFFF"/>
          </a:solidFill>
          <a:ln w="12700">
            <a:solidFill>
              <a:srgbClr val="93A8D8"/>
            </a:solidFill>
            <a:prstDash val="solid"/>
          </a:ln>
        </p:spPr>
      </p:sp>
      <p:sp>
        <p:nvSpPr>
          <p:cNvPr id="71" name="Text 69"/>
          <p:cNvSpPr txBox="1"/>
          <p:nvPr/>
        </p:nvSpPr>
        <p:spPr>
          <a:xfrm>
            <a:off x="5074920" y="5550408"/>
            <a:ext cx="896112" cy="205740"/>
          </a:xfrm>
          <a:prstGeom prst="rect">
            <a:avLst/>
          </a:prstGeom>
          <a:noFill/>
          <a:ln/>
        </p:spPr>
        <p:txBody>
          <a:bodyPr wrap="square" lIns="25400" tIns="25400" rIns="25400" bIns="25400" rtlCol="0" anchor="ctr"/>
          <a:lstStyle/>
          <a:p>
            <a:pPr algn="ctr" indent="0" marL="0">
              <a:buNone/>
            </a:pPr>
            <a:r>
              <a:rPr lang="en-US" sz="700" b="1" dirty="0">
                <a:solidFill>
                  <a:srgbClr val="1E293B"/>
                </a:solidFill>
                <a:latin typeface="Calibri" pitchFamily="34" charset="0"/>
                <a:ea typeface="Calibri" pitchFamily="34" charset="-122"/>
                <a:cs typeface="Calibri" pitchFamily="34" charset="-120"/>
              </a:rPr>
              <a:t>Cloud Logging</a:t>
            </a:r>
            <a:endParaRPr lang="en-US" sz="700" dirty="0"/>
          </a:p>
        </p:txBody>
      </p:sp>
      <p:sp>
        <p:nvSpPr>
          <p:cNvPr id="72" name="Text 70"/>
          <p:cNvSpPr txBox="1"/>
          <p:nvPr/>
        </p:nvSpPr>
        <p:spPr>
          <a:xfrm>
            <a:off x="5074920" y="5728716"/>
            <a:ext cx="896112" cy="228600"/>
          </a:xfrm>
          <a:prstGeom prst="rect">
            <a:avLst/>
          </a:prstGeom>
          <a:noFill/>
          <a:ln/>
        </p:spPr>
        <p:txBody>
          <a:bodyPr wrap="square" lIns="25400" tIns="25400" rIns="25400" bIns="25400" rtlCol="0" anchor="t"/>
          <a:lstStyle/>
          <a:p>
            <a:pPr algn="ctr" indent="0" marL="0">
              <a:buNone/>
            </a:pPr>
            <a:r>
              <a:rPr lang="en-US" sz="750" dirty="0">
                <a:solidFill>
                  <a:srgbClr val="64748B"/>
                </a:solidFill>
                <a:latin typeface="Calibri" pitchFamily="34" charset="0"/>
                <a:ea typeface="Calibri" pitchFamily="34" charset="-122"/>
                <a:cs typeface="Calibri" pitchFamily="34" charset="-120"/>
              </a:rPr>
              <a:t>Audit Trail</a:t>
            </a:r>
            <a:endParaRPr lang="en-US" sz="750" dirty="0"/>
          </a:p>
        </p:txBody>
      </p:sp>
      <p:sp>
        <p:nvSpPr>
          <p:cNvPr id="73" name="Shape 71"/>
          <p:cNvSpPr/>
          <p:nvPr/>
        </p:nvSpPr>
        <p:spPr>
          <a:xfrm>
            <a:off x="6080760" y="5513832"/>
            <a:ext cx="987552" cy="457200"/>
          </a:xfrm>
          <a:prstGeom prst="roundRect">
            <a:avLst>
              <a:gd name="adj" fmla="val 12000"/>
            </a:avLst>
          </a:prstGeom>
          <a:solidFill>
            <a:srgbClr val="FFFFFF"/>
          </a:solidFill>
          <a:ln w="12700">
            <a:solidFill>
              <a:srgbClr val="93A8D8"/>
            </a:solidFill>
            <a:prstDash val="solid"/>
          </a:ln>
        </p:spPr>
      </p:sp>
      <p:sp>
        <p:nvSpPr>
          <p:cNvPr id="74" name="Text 72"/>
          <p:cNvSpPr txBox="1"/>
          <p:nvPr/>
        </p:nvSpPr>
        <p:spPr>
          <a:xfrm>
            <a:off x="6126480" y="5550408"/>
            <a:ext cx="896112" cy="205740"/>
          </a:xfrm>
          <a:prstGeom prst="rect">
            <a:avLst/>
          </a:prstGeom>
          <a:noFill/>
          <a:ln/>
        </p:spPr>
        <p:txBody>
          <a:bodyPr wrap="square" lIns="25400" tIns="25400" rIns="25400" bIns="25400" rtlCol="0" anchor="ctr"/>
          <a:lstStyle/>
          <a:p>
            <a:pPr algn="ctr" indent="0" marL="0">
              <a:buNone/>
            </a:pPr>
            <a:r>
              <a:rPr lang="en-US" sz="700" b="1" dirty="0">
                <a:solidFill>
                  <a:srgbClr val="1E293B"/>
                </a:solidFill>
                <a:latin typeface="Calibri" pitchFamily="34" charset="0"/>
                <a:ea typeface="Calibri" pitchFamily="34" charset="-122"/>
                <a:cs typeface="Calibri" pitchFamily="34" charset="-120"/>
              </a:rPr>
              <a:t>Cloud Monitoring</a:t>
            </a:r>
            <a:endParaRPr lang="en-US" sz="700" dirty="0"/>
          </a:p>
        </p:txBody>
      </p:sp>
      <p:sp>
        <p:nvSpPr>
          <p:cNvPr id="75" name="Text 73"/>
          <p:cNvSpPr txBox="1"/>
          <p:nvPr/>
        </p:nvSpPr>
        <p:spPr>
          <a:xfrm>
            <a:off x="6126480" y="5728716"/>
            <a:ext cx="896112" cy="228600"/>
          </a:xfrm>
          <a:prstGeom prst="rect">
            <a:avLst/>
          </a:prstGeom>
          <a:noFill/>
          <a:ln/>
        </p:spPr>
        <p:txBody>
          <a:bodyPr wrap="square" lIns="25400" tIns="25400" rIns="25400" bIns="25400" rtlCol="0" anchor="t"/>
          <a:lstStyle/>
          <a:p>
            <a:pPr algn="ctr" indent="0" marL="0">
              <a:buNone/>
            </a:pPr>
            <a:r>
              <a:rPr lang="en-US" sz="750" dirty="0">
                <a:solidFill>
                  <a:srgbClr val="64748B"/>
                </a:solidFill>
                <a:latin typeface="Calibri" pitchFamily="34" charset="0"/>
                <a:ea typeface="Calibri" pitchFamily="34" charset="-122"/>
                <a:cs typeface="Calibri" pitchFamily="34" charset="-120"/>
              </a:rPr>
              <a:t>Observability</a:t>
            </a:r>
            <a:endParaRPr lang="en-US" sz="750" dirty="0"/>
          </a:p>
        </p:txBody>
      </p:sp>
      <p:sp>
        <p:nvSpPr>
          <p:cNvPr id="76" name="Shape 74"/>
          <p:cNvSpPr/>
          <p:nvPr/>
        </p:nvSpPr>
        <p:spPr>
          <a:xfrm>
            <a:off x="7132320" y="5513832"/>
            <a:ext cx="987552" cy="457200"/>
          </a:xfrm>
          <a:prstGeom prst="roundRect">
            <a:avLst>
              <a:gd name="adj" fmla="val 12000"/>
            </a:avLst>
          </a:prstGeom>
          <a:solidFill>
            <a:srgbClr val="FFFFFF"/>
          </a:solidFill>
          <a:ln w="12700">
            <a:solidFill>
              <a:srgbClr val="93A8D8"/>
            </a:solidFill>
            <a:prstDash val="solid"/>
          </a:ln>
        </p:spPr>
      </p:sp>
      <p:sp>
        <p:nvSpPr>
          <p:cNvPr id="77" name="Text 75"/>
          <p:cNvSpPr txBox="1"/>
          <p:nvPr/>
        </p:nvSpPr>
        <p:spPr>
          <a:xfrm>
            <a:off x="7178040" y="5550408"/>
            <a:ext cx="896112" cy="205740"/>
          </a:xfrm>
          <a:prstGeom prst="rect">
            <a:avLst/>
          </a:prstGeom>
          <a:noFill/>
          <a:ln/>
        </p:spPr>
        <p:txBody>
          <a:bodyPr wrap="square" lIns="25400" tIns="25400" rIns="25400" bIns="25400" rtlCol="0" anchor="ctr"/>
          <a:lstStyle/>
          <a:p>
            <a:pPr algn="ctr" indent="0" marL="0">
              <a:buNone/>
            </a:pPr>
            <a:r>
              <a:rPr lang="en-US" sz="700" b="1" dirty="0">
                <a:solidFill>
                  <a:srgbClr val="1E293B"/>
                </a:solidFill>
                <a:latin typeface="Calibri" pitchFamily="34" charset="0"/>
                <a:ea typeface="Calibri" pitchFamily="34" charset="-122"/>
                <a:cs typeface="Calibri" pitchFamily="34" charset="-120"/>
              </a:rPr>
              <a:t>Cloud Trace</a:t>
            </a:r>
            <a:endParaRPr lang="en-US" sz="700" dirty="0"/>
          </a:p>
        </p:txBody>
      </p:sp>
      <p:sp>
        <p:nvSpPr>
          <p:cNvPr id="78" name="Text 76"/>
          <p:cNvSpPr txBox="1"/>
          <p:nvPr/>
        </p:nvSpPr>
        <p:spPr>
          <a:xfrm>
            <a:off x="7178040" y="5728716"/>
            <a:ext cx="896112" cy="228600"/>
          </a:xfrm>
          <a:prstGeom prst="rect">
            <a:avLst/>
          </a:prstGeom>
          <a:noFill/>
          <a:ln/>
        </p:spPr>
        <p:txBody>
          <a:bodyPr wrap="square" lIns="25400" tIns="25400" rIns="25400" bIns="25400" rtlCol="0" anchor="t"/>
          <a:lstStyle/>
          <a:p>
            <a:pPr algn="ctr" indent="0" marL="0">
              <a:buNone/>
            </a:pPr>
            <a:r>
              <a:rPr lang="en-US" sz="750" dirty="0">
                <a:solidFill>
                  <a:srgbClr val="64748B"/>
                </a:solidFill>
                <a:latin typeface="Calibri" pitchFamily="34" charset="0"/>
                <a:ea typeface="Calibri" pitchFamily="34" charset="-122"/>
                <a:cs typeface="Calibri" pitchFamily="34" charset="-120"/>
              </a:rPr>
              <a:t>Tracing</a:t>
            </a:r>
            <a:endParaRPr lang="en-US" sz="750" dirty="0"/>
          </a:p>
        </p:txBody>
      </p:sp>
      <p:sp>
        <p:nvSpPr>
          <p:cNvPr id="79" name="Shape 77"/>
          <p:cNvSpPr/>
          <p:nvPr/>
        </p:nvSpPr>
        <p:spPr>
          <a:xfrm>
            <a:off x="8183880" y="5513832"/>
            <a:ext cx="987552" cy="457200"/>
          </a:xfrm>
          <a:prstGeom prst="roundRect">
            <a:avLst>
              <a:gd name="adj" fmla="val 12000"/>
            </a:avLst>
          </a:prstGeom>
          <a:solidFill>
            <a:srgbClr val="FFFFFF"/>
          </a:solidFill>
          <a:ln w="12700">
            <a:solidFill>
              <a:srgbClr val="93A8D8"/>
            </a:solidFill>
            <a:prstDash val="solid"/>
          </a:ln>
        </p:spPr>
      </p:sp>
      <p:sp>
        <p:nvSpPr>
          <p:cNvPr id="80" name="Text 78"/>
          <p:cNvSpPr txBox="1"/>
          <p:nvPr/>
        </p:nvSpPr>
        <p:spPr>
          <a:xfrm>
            <a:off x="8229600" y="5550408"/>
            <a:ext cx="896112" cy="205740"/>
          </a:xfrm>
          <a:prstGeom prst="rect">
            <a:avLst/>
          </a:prstGeom>
          <a:noFill/>
          <a:ln/>
        </p:spPr>
        <p:txBody>
          <a:bodyPr wrap="square" lIns="25400" tIns="25400" rIns="25400" bIns="25400" rtlCol="0" anchor="ctr"/>
          <a:lstStyle/>
          <a:p>
            <a:pPr algn="ctr" indent="0" marL="0">
              <a:buNone/>
            </a:pPr>
            <a:r>
              <a:rPr lang="en-US" sz="700" b="1" dirty="0">
                <a:solidFill>
                  <a:srgbClr val="1E293B"/>
                </a:solidFill>
                <a:latin typeface="Calibri" pitchFamily="34" charset="0"/>
                <a:ea typeface="Calibri" pitchFamily="34" charset="-122"/>
                <a:cs typeface="Calibri" pitchFamily="34" charset="-120"/>
              </a:rPr>
              <a:t>Model Armor</a:t>
            </a:r>
            <a:endParaRPr lang="en-US" sz="700" dirty="0"/>
          </a:p>
        </p:txBody>
      </p:sp>
      <p:sp>
        <p:nvSpPr>
          <p:cNvPr id="81" name="Text 79"/>
          <p:cNvSpPr txBox="1"/>
          <p:nvPr/>
        </p:nvSpPr>
        <p:spPr>
          <a:xfrm>
            <a:off x="8229600" y="5728716"/>
            <a:ext cx="896112" cy="228600"/>
          </a:xfrm>
          <a:prstGeom prst="rect">
            <a:avLst/>
          </a:prstGeom>
          <a:noFill/>
          <a:ln/>
        </p:spPr>
        <p:txBody>
          <a:bodyPr wrap="square" lIns="25400" tIns="25400" rIns="25400" bIns="25400" rtlCol="0" anchor="t"/>
          <a:lstStyle/>
          <a:p>
            <a:pPr algn="ctr" indent="0" marL="0">
              <a:buNone/>
            </a:pPr>
            <a:r>
              <a:rPr lang="en-US" sz="750" dirty="0">
                <a:solidFill>
                  <a:srgbClr val="64748B"/>
                </a:solidFill>
                <a:latin typeface="Calibri" pitchFamily="34" charset="0"/>
                <a:ea typeface="Calibri" pitchFamily="34" charset="-122"/>
                <a:cs typeface="Calibri" pitchFamily="34" charset="-120"/>
              </a:rPr>
              <a:t>Safety Filtering</a:t>
            </a:r>
            <a:endParaRPr lang="en-US" sz="750" dirty="0"/>
          </a:p>
        </p:txBody>
      </p:sp>
      <p:sp>
        <p:nvSpPr>
          <p:cNvPr id="82" name="Shape 80"/>
          <p:cNvSpPr/>
          <p:nvPr/>
        </p:nvSpPr>
        <p:spPr>
          <a:xfrm>
            <a:off x="9555480" y="1371600"/>
            <a:ext cx="274320" cy="4206240"/>
          </a:xfrm>
          <a:prstGeom prst="roundRect">
            <a:avLst>
              <a:gd name="adj" fmla="val 20000"/>
            </a:avLst>
          </a:prstGeom>
          <a:solidFill>
            <a:srgbClr val="FFFFFF"/>
          </a:solidFill>
          <a:ln w="12700">
            <a:solidFill>
              <a:srgbClr val="2563EB"/>
            </a:solidFill>
            <a:prstDash val="solid"/>
          </a:ln>
        </p:spPr>
      </p:sp>
      <p:sp>
        <p:nvSpPr>
          <p:cNvPr id="83" name="Text 81"/>
          <p:cNvSpPr txBox="1"/>
          <p:nvPr/>
        </p:nvSpPr>
        <p:spPr>
          <a:xfrm>
            <a:off x="9555480" y="1371600"/>
            <a:ext cx="274320" cy="4206240"/>
          </a:xfrm>
          <a:prstGeom prst="rect">
            <a:avLst/>
          </a:prstGeom>
          <a:noFill/>
          <a:ln/>
        </p:spPr>
        <p:txBody>
          <a:bodyPr wrap="square" lIns="0" tIns="0" rIns="0" bIns="0" rtlCol="0" anchor="ctr" vert="vert270"/>
          <a:lstStyle/>
          <a:p>
            <a:pPr algn="ctr" indent="0" marL="0">
              <a:buNone/>
            </a:pPr>
            <a:r>
              <a:rPr lang="en-US" sz="800" dirty="0">
                <a:solidFill>
                  <a:srgbClr val="2563EB"/>
                </a:solidFill>
                <a:latin typeface="Calibri" pitchFamily="34" charset="0"/>
                <a:ea typeface="Calibri" pitchFamily="34" charset="-122"/>
                <a:cs typeface="Calibri" pitchFamily="34" charset="-120"/>
              </a:rPr>
              <a:t>BigQuery API  |  Application Integration API</a:t>
            </a:r>
            <a:endParaRPr lang="en-US" sz="800" dirty="0"/>
          </a:p>
        </p:txBody>
      </p:sp>
      <p:sp>
        <p:nvSpPr>
          <p:cNvPr id="84" name="Shape 82"/>
          <p:cNvSpPr/>
          <p:nvPr/>
        </p:nvSpPr>
        <p:spPr>
          <a:xfrm>
            <a:off x="9326880" y="3017520"/>
            <a:ext cx="228600" cy="0"/>
          </a:xfrm>
          <a:prstGeom prst="line">
            <a:avLst/>
          </a:prstGeom>
          <a:noFill/>
          <a:ln w="19050">
            <a:solidFill>
              <a:srgbClr val="2563EB"/>
            </a:solidFill>
            <a:prstDash val="solid"/>
            <a:headEnd type="triangle"/>
            <a:tailEnd type="triangle"/>
          </a:ln>
        </p:spPr>
      </p:sp>
      <p:sp>
        <p:nvSpPr>
          <p:cNvPr id="85" name="Shape 83"/>
          <p:cNvSpPr/>
          <p:nvPr/>
        </p:nvSpPr>
        <p:spPr>
          <a:xfrm>
            <a:off x="9966960" y="960120"/>
            <a:ext cx="2103120" cy="3063240"/>
          </a:xfrm>
          <a:prstGeom prst="rect">
            <a:avLst/>
          </a:prstGeom>
          <a:solidFill>
            <a:srgbClr val="EFF4FF"/>
          </a:solidFill>
          <a:ln w="12700">
            <a:solidFill>
              <a:srgbClr val="93A8D8"/>
            </a:solidFill>
            <a:prstDash val="solid"/>
          </a:ln>
        </p:spPr>
      </p:sp>
      <p:sp>
        <p:nvSpPr>
          <p:cNvPr id="86" name="Text 84"/>
          <p:cNvSpPr txBox="1"/>
          <p:nvPr/>
        </p:nvSpPr>
        <p:spPr>
          <a:xfrm>
            <a:off x="10012680" y="987552"/>
            <a:ext cx="2011680" cy="256032"/>
          </a:xfrm>
          <a:prstGeom prst="rect">
            <a:avLst/>
          </a:prstGeom>
          <a:noFill/>
          <a:ln/>
        </p:spPr>
        <p:txBody>
          <a:bodyPr wrap="square" lIns="25400" tIns="25400" rIns="25400" bIns="25400" rtlCol="0" anchor="ctr"/>
          <a:lstStyle/>
          <a:p>
            <a:pPr algn="ctr" indent="0" marL="0">
              <a:buNone/>
            </a:pPr>
            <a:r>
              <a:rPr lang="en-US" sz="900" b="1" dirty="0">
                <a:solidFill>
                  <a:srgbClr val="1F3A8A"/>
                </a:solidFill>
                <a:latin typeface="Calibri" pitchFamily="34" charset="0"/>
                <a:ea typeface="Calibri" pitchFamily="34" charset="-122"/>
                <a:cs typeface="Calibri" pitchFamily="34" charset="-120"/>
              </a:rPr>
              <a:t>Google BigQuery (launchkit)</a:t>
            </a:r>
            <a:endParaRPr lang="en-US" sz="900" dirty="0"/>
          </a:p>
        </p:txBody>
      </p:sp>
      <p:sp>
        <p:nvSpPr>
          <p:cNvPr id="87" name="Shape 85"/>
          <p:cNvSpPr/>
          <p:nvPr/>
        </p:nvSpPr>
        <p:spPr>
          <a:xfrm>
            <a:off x="10058400" y="1261872"/>
            <a:ext cx="1920240" cy="896112"/>
          </a:xfrm>
          <a:prstGeom prst="roundRect">
            <a:avLst>
              <a:gd name="adj" fmla="val 6122"/>
            </a:avLst>
          </a:prstGeom>
          <a:solidFill>
            <a:srgbClr val="FFFFFF"/>
          </a:solidFill>
          <a:ln w="12700">
            <a:solidFill>
              <a:srgbClr val="93A8D8"/>
            </a:solidFill>
            <a:prstDash val="solid"/>
          </a:ln>
        </p:spPr>
      </p:sp>
      <p:sp>
        <p:nvSpPr>
          <p:cNvPr id="88" name="Text 86"/>
          <p:cNvSpPr txBox="1"/>
          <p:nvPr/>
        </p:nvSpPr>
        <p:spPr>
          <a:xfrm>
            <a:off x="10104120" y="1298448"/>
            <a:ext cx="1828800" cy="403250"/>
          </a:xfrm>
          <a:prstGeom prst="rect">
            <a:avLst/>
          </a:prstGeom>
          <a:noFill/>
          <a:ln/>
        </p:spPr>
        <p:txBody>
          <a:bodyPr wrap="square" lIns="25400" tIns="25400" rIns="25400" bIns="25400" rtlCol="0" anchor="ctr"/>
          <a:lstStyle/>
          <a:p>
            <a:pPr algn="ctr" indent="0" marL="0">
              <a:buNone/>
            </a:pPr>
            <a:r>
              <a:rPr lang="en-US" sz="800" b="1" dirty="0">
                <a:solidFill>
                  <a:srgbClr val="1E293B"/>
                </a:solidFill>
                <a:latin typeface="Calibri" pitchFamily="34" charset="0"/>
                <a:ea typeface="Calibri" pitchFamily="34" charset="-122"/>
                <a:cs typeface="Calibri" pitchFamily="34" charset="-120"/>
              </a:rPr>
              <a:t>Reference data</a:t>
            </a:r>
            <a:endParaRPr lang="en-US" sz="800" dirty="0"/>
          </a:p>
        </p:txBody>
      </p:sp>
      <p:sp>
        <p:nvSpPr>
          <p:cNvPr id="89" name="Text 87"/>
          <p:cNvSpPr txBox="1"/>
          <p:nvPr/>
        </p:nvSpPr>
        <p:spPr>
          <a:xfrm>
            <a:off x="10104120" y="1683045"/>
            <a:ext cx="1828800" cy="448056"/>
          </a:xfrm>
          <a:prstGeom prst="rect">
            <a:avLst/>
          </a:prstGeom>
          <a:noFill/>
          <a:ln/>
        </p:spPr>
        <p:txBody>
          <a:bodyPr wrap="square" lIns="25400" tIns="25400" rIns="25400" bIns="25400" rtlCol="0" anchor="t"/>
          <a:lstStyle/>
          <a:p>
            <a:pPr algn="ctr" indent="0" marL="0">
              <a:buNone/>
            </a:pPr>
            <a:r>
              <a:rPr lang="en-US" sz="650" dirty="0">
                <a:solidFill>
                  <a:srgbClr val="64748B"/>
                </a:solidFill>
                <a:latin typeface="Calibri" pitchFamily="34" charset="0"/>
                <a:ea typeface="Calibri" pitchFamily="34" charset="-122"/>
                <a:cs typeface="Calibri" pitchFamily="34" charset="-120"/>
              </a:rPr>
              <a:t>launches, assets, bundle_templates, guests, depots, depot_stock, transit_lanes, vendors, vendor_offers, planning_rules, approval_policy, approvers</a:t>
            </a:r>
            <a:endParaRPr lang="en-US" sz="650" dirty="0"/>
          </a:p>
        </p:txBody>
      </p:sp>
      <p:sp>
        <p:nvSpPr>
          <p:cNvPr id="90" name="Shape 88"/>
          <p:cNvSpPr/>
          <p:nvPr/>
        </p:nvSpPr>
        <p:spPr>
          <a:xfrm>
            <a:off x="10058400" y="2203704"/>
            <a:ext cx="1920240" cy="658368"/>
          </a:xfrm>
          <a:prstGeom prst="roundRect">
            <a:avLst>
              <a:gd name="adj" fmla="val 8333"/>
            </a:avLst>
          </a:prstGeom>
          <a:solidFill>
            <a:srgbClr val="FFFFFF"/>
          </a:solidFill>
          <a:ln w="12700">
            <a:solidFill>
              <a:srgbClr val="93A8D8"/>
            </a:solidFill>
            <a:prstDash val="solid"/>
          </a:ln>
        </p:spPr>
      </p:sp>
      <p:sp>
        <p:nvSpPr>
          <p:cNvPr id="91" name="Text 89"/>
          <p:cNvSpPr txBox="1"/>
          <p:nvPr/>
        </p:nvSpPr>
        <p:spPr>
          <a:xfrm>
            <a:off x="10104120" y="2240280"/>
            <a:ext cx="1828800" cy="296266"/>
          </a:xfrm>
          <a:prstGeom prst="rect">
            <a:avLst/>
          </a:prstGeom>
          <a:noFill/>
          <a:ln/>
        </p:spPr>
        <p:txBody>
          <a:bodyPr wrap="square" lIns="25400" tIns="25400" rIns="25400" bIns="25400" rtlCol="0" anchor="ctr"/>
          <a:lstStyle/>
          <a:p>
            <a:pPr algn="ctr" indent="0" marL="0">
              <a:buNone/>
            </a:pPr>
            <a:r>
              <a:rPr lang="en-US" sz="800" b="1" dirty="0">
                <a:solidFill>
                  <a:srgbClr val="1E293B"/>
                </a:solidFill>
                <a:latin typeface="Calibri" pitchFamily="34" charset="0"/>
                <a:ea typeface="Calibri" pitchFamily="34" charset="-122"/>
                <a:cs typeface="Calibri" pitchFamily="34" charset="-120"/>
              </a:rPr>
              <a:t>Plan &amp; decision</a:t>
            </a:r>
            <a:endParaRPr lang="en-US" sz="800" dirty="0"/>
          </a:p>
        </p:txBody>
      </p:sp>
      <p:sp>
        <p:nvSpPr>
          <p:cNvPr id="92" name="Text 90"/>
          <p:cNvSpPr txBox="1"/>
          <p:nvPr/>
        </p:nvSpPr>
        <p:spPr>
          <a:xfrm>
            <a:off x="10104120" y="2513137"/>
            <a:ext cx="1828800" cy="329184"/>
          </a:xfrm>
          <a:prstGeom prst="rect">
            <a:avLst/>
          </a:prstGeom>
          <a:noFill/>
          <a:ln/>
        </p:spPr>
        <p:txBody>
          <a:bodyPr wrap="square" lIns="25400" tIns="25400" rIns="25400" bIns="25400" rtlCol="0" anchor="t"/>
          <a:lstStyle/>
          <a:p>
            <a:pPr algn="ctr" indent="0" marL="0">
              <a:buNone/>
            </a:pPr>
            <a:r>
              <a:rPr lang="en-US" sz="650" dirty="0">
                <a:solidFill>
                  <a:srgbClr val="64748B"/>
                </a:solidFill>
                <a:latin typeface="Calibri" pitchFamily="34" charset="0"/>
                <a:ea typeface="Calibri" pitchFamily="34" charset="-122"/>
                <a:cs typeface="Calibri" pitchFamily="34" charset="-120"/>
              </a:rPr>
              <a:t>scenarios, scenario_lines, decisions, depot_holds, vendor_disruptions</a:t>
            </a:r>
            <a:endParaRPr lang="en-US" sz="650" dirty="0"/>
          </a:p>
        </p:txBody>
      </p:sp>
      <p:sp>
        <p:nvSpPr>
          <p:cNvPr id="93" name="Shape 91"/>
          <p:cNvSpPr/>
          <p:nvPr/>
        </p:nvSpPr>
        <p:spPr>
          <a:xfrm>
            <a:off x="10058400" y="2907792"/>
            <a:ext cx="1920240" cy="502920"/>
          </a:xfrm>
          <a:prstGeom prst="roundRect">
            <a:avLst>
              <a:gd name="adj" fmla="val 10909"/>
            </a:avLst>
          </a:prstGeom>
          <a:solidFill>
            <a:srgbClr val="FFFFFF"/>
          </a:solidFill>
          <a:ln w="12700">
            <a:solidFill>
              <a:srgbClr val="93A8D8"/>
            </a:solidFill>
            <a:prstDash val="solid"/>
          </a:ln>
        </p:spPr>
      </p:sp>
      <p:sp>
        <p:nvSpPr>
          <p:cNvPr id="94" name="Text 92"/>
          <p:cNvSpPr txBox="1"/>
          <p:nvPr/>
        </p:nvSpPr>
        <p:spPr>
          <a:xfrm>
            <a:off x="10104120" y="2944368"/>
            <a:ext cx="1828800" cy="226314"/>
          </a:xfrm>
          <a:prstGeom prst="rect">
            <a:avLst/>
          </a:prstGeom>
          <a:noFill/>
          <a:ln/>
        </p:spPr>
        <p:txBody>
          <a:bodyPr wrap="square" lIns="25400" tIns="25400" rIns="25400" bIns="25400" rtlCol="0" anchor="ctr"/>
          <a:lstStyle/>
          <a:p>
            <a:pPr algn="ctr" indent="0" marL="0">
              <a:buNone/>
            </a:pPr>
            <a:r>
              <a:rPr lang="en-US" sz="800" b="1" dirty="0">
                <a:solidFill>
                  <a:srgbClr val="1E293B"/>
                </a:solidFill>
                <a:latin typeface="Calibri" pitchFamily="34" charset="0"/>
                <a:ea typeface="Calibri" pitchFamily="34" charset="-122"/>
                <a:cs typeface="Calibri" pitchFamily="34" charset="-120"/>
              </a:rPr>
              <a:t>Orders &amp; audit</a:t>
            </a:r>
            <a:endParaRPr lang="en-US" sz="800" dirty="0"/>
          </a:p>
        </p:txBody>
      </p:sp>
      <p:sp>
        <p:nvSpPr>
          <p:cNvPr id="95" name="Text 93"/>
          <p:cNvSpPr txBox="1"/>
          <p:nvPr/>
        </p:nvSpPr>
        <p:spPr>
          <a:xfrm>
            <a:off x="10104120" y="3144164"/>
            <a:ext cx="1828800" cy="251460"/>
          </a:xfrm>
          <a:prstGeom prst="rect">
            <a:avLst/>
          </a:prstGeom>
          <a:noFill/>
          <a:ln/>
        </p:spPr>
        <p:txBody>
          <a:bodyPr wrap="square" lIns="25400" tIns="25400" rIns="25400" bIns="25400" rtlCol="0" anchor="t"/>
          <a:lstStyle/>
          <a:p>
            <a:pPr algn="ctr" indent="0" marL="0">
              <a:buNone/>
            </a:pPr>
            <a:r>
              <a:rPr lang="en-US" sz="650" dirty="0">
                <a:solidFill>
                  <a:srgbClr val="64748B"/>
                </a:solidFill>
                <a:latin typeface="Calibri" pitchFamily="34" charset="0"/>
                <a:ea typeface="Calibri" pitchFamily="34" charset="-122"/>
                <a:cs typeface="Calibri" pitchFamily="34" charset="-120"/>
              </a:rPr>
              <a:t>purchase_orders, depot_transfers, audit_log</a:t>
            </a:r>
            <a:endParaRPr lang="en-US" sz="650" dirty="0"/>
          </a:p>
        </p:txBody>
      </p:sp>
      <p:sp>
        <p:nvSpPr>
          <p:cNvPr id="96" name="Shape 94"/>
          <p:cNvSpPr/>
          <p:nvPr/>
        </p:nvSpPr>
        <p:spPr>
          <a:xfrm>
            <a:off x="10058400" y="3456432"/>
            <a:ext cx="1920240" cy="502920"/>
          </a:xfrm>
          <a:prstGeom prst="roundRect">
            <a:avLst>
              <a:gd name="adj" fmla="val 10909"/>
            </a:avLst>
          </a:prstGeom>
          <a:solidFill>
            <a:srgbClr val="FFFFFF"/>
          </a:solidFill>
          <a:ln w="12700">
            <a:solidFill>
              <a:srgbClr val="93A8D8"/>
            </a:solidFill>
            <a:prstDash val="solid"/>
          </a:ln>
        </p:spPr>
      </p:sp>
      <p:sp>
        <p:nvSpPr>
          <p:cNvPr id="97" name="Text 95"/>
          <p:cNvSpPr txBox="1"/>
          <p:nvPr/>
        </p:nvSpPr>
        <p:spPr>
          <a:xfrm>
            <a:off x="10104120" y="3493008"/>
            <a:ext cx="1828800" cy="226314"/>
          </a:xfrm>
          <a:prstGeom prst="rect">
            <a:avLst/>
          </a:prstGeom>
          <a:noFill/>
          <a:ln/>
        </p:spPr>
        <p:txBody>
          <a:bodyPr wrap="square" lIns="25400" tIns="25400" rIns="25400" bIns="25400" rtlCol="0" anchor="ctr"/>
          <a:lstStyle/>
          <a:p>
            <a:pPr algn="ctr" indent="0" marL="0">
              <a:buNone/>
            </a:pPr>
            <a:r>
              <a:rPr lang="en-US" sz="800" b="1" dirty="0">
                <a:solidFill>
                  <a:srgbClr val="1E293B"/>
                </a:solidFill>
                <a:latin typeface="Calibri" pitchFamily="34" charset="0"/>
                <a:ea typeface="Calibri" pitchFamily="34" charset="-122"/>
                <a:cs typeface="Calibri" pitchFamily="34" charset="-120"/>
              </a:rPr>
              <a:t>Views</a:t>
            </a:r>
            <a:endParaRPr lang="en-US" sz="800" dirty="0"/>
          </a:p>
        </p:txBody>
      </p:sp>
      <p:sp>
        <p:nvSpPr>
          <p:cNvPr id="98" name="Text 96"/>
          <p:cNvSpPr txBox="1"/>
          <p:nvPr/>
        </p:nvSpPr>
        <p:spPr>
          <a:xfrm>
            <a:off x="10104120" y="3692804"/>
            <a:ext cx="1828800" cy="251460"/>
          </a:xfrm>
          <a:prstGeom prst="rect">
            <a:avLst/>
          </a:prstGeom>
          <a:noFill/>
          <a:ln/>
        </p:spPr>
        <p:txBody>
          <a:bodyPr wrap="square" lIns="25400" tIns="25400" rIns="25400" bIns="25400" rtlCol="0" anchor="t"/>
          <a:lstStyle/>
          <a:p>
            <a:pPr algn="ctr" indent="0" marL="0">
              <a:buNone/>
            </a:pPr>
            <a:r>
              <a:rPr lang="en-US" sz="650" dirty="0">
                <a:solidFill>
                  <a:srgbClr val="64748B"/>
                </a:solidFill>
                <a:latin typeface="Calibri" pitchFamily="34" charset="0"/>
                <a:ea typeface="Calibri" pitchFamily="34" charset="-122"/>
                <a:cs typeface="Calibri" pitchFamily="34" charset="-120"/>
              </a:rPr>
              <a:t>v_depot_available, v_launch_readiness</a:t>
            </a:r>
            <a:endParaRPr lang="en-US" sz="650" dirty="0"/>
          </a:p>
        </p:txBody>
      </p:sp>
      <p:sp>
        <p:nvSpPr>
          <p:cNvPr id="99" name="Shape 97"/>
          <p:cNvSpPr/>
          <p:nvPr/>
        </p:nvSpPr>
        <p:spPr>
          <a:xfrm>
            <a:off x="9966960" y="4114800"/>
            <a:ext cx="2103120" cy="1645920"/>
          </a:xfrm>
          <a:prstGeom prst="rect">
            <a:avLst/>
          </a:prstGeom>
          <a:solidFill>
            <a:srgbClr val="EFF4FF"/>
          </a:solidFill>
          <a:ln w="12700">
            <a:solidFill>
              <a:srgbClr val="93A8D8"/>
            </a:solidFill>
            <a:prstDash val="solid"/>
          </a:ln>
        </p:spPr>
      </p:sp>
      <p:sp>
        <p:nvSpPr>
          <p:cNvPr id="100" name="Text 98"/>
          <p:cNvSpPr txBox="1"/>
          <p:nvPr/>
        </p:nvSpPr>
        <p:spPr>
          <a:xfrm>
            <a:off x="10012680" y="4142232"/>
            <a:ext cx="2011680" cy="256032"/>
          </a:xfrm>
          <a:prstGeom prst="rect">
            <a:avLst/>
          </a:prstGeom>
          <a:noFill/>
          <a:ln/>
        </p:spPr>
        <p:txBody>
          <a:bodyPr wrap="square" lIns="25400" tIns="25400" rIns="25400" bIns="25400" rtlCol="0" anchor="ctr"/>
          <a:lstStyle/>
          <a:p>
            <a:pPr algn="ctr" indent="0" marL="0">
              <a:buNone/>
            </a:pPr>
            <a:r>
              <a:rPr lang="en-US" sz="900" b="1" dirty="0">
                <a:solidFill>
                  <a:srgbClr val="1F3A8A"/>
                </a:solidFill>
                <a:latin typeface="Calibri" pitchFamily="34" charset="0"/>
                <a:ea typeface="Calibri" pitchFamily="34" charset="-122"/>
                <a:cs typeface="Calibri" pitchFamily="34" charset="-120"/>
              </a:rPr>
              <a:t>Application Integration</a:t>
            </a:r>
            <a:endParaRPr lang="en-US" sz="900" dirty="0"/>
          </a:p>
        </p:txBody>
      </p:sp>
      <p:sp>
        <p:nvSpPr>
          <p:cNvPr id="101" name="Shape 99"/>
          <p:cNvSpPr/>
          <p:nvPr/>
        </p:nvSpPr>
        <p:spPr>
          <a:xfrm>
            <a:off x="10058400" y="4416552"/>
            <a:ext cx="1920240" cy="301752"/>
          </a:xfrm>
          <a:prstGeom prst="roundRect">
            <a:avLst>
              <a:gd name="adj" fmla="val 18182"/>
            </a:avLst>
          </a:prstGeom>
          <a:solidFill>
            <a:srgbClr val="FFFFFF"/>
          </a:solidFill>
          <a:ln w="12700">
            <a:solidFill>
              <a:srgbClr val="93A8D8"/>
            </a:solidFill>
            <a:prstDash val="solid"/>
          </a:ln>
        </p:spPr>
      </p:sp>
      <p:sp>
        <p:nvSpPr>
          <p:cNvPr id="102" name="Text 100"/>
          <p:cNvSpPr txBox="1"/>
          <p:nvPr/>
        </p:nvSpPr>
        <p:spPr>
          <a:xfrm>
            <a:off x="10104120" y="4453128"/>
            <a:ext cx="1828800" cy="228600"/>
          </a:xfrm>
          <a:prstGeom prst="rect">
            <a:avLst/>
          </a:prstGeom>
          <a:noFill/>
          <a:ln/>
        </p:spPr>
        <p:txBody>
          <a:bodyPr wrap="square" lIns="25400" tIns="25400" rIns="25400" bIns="25400" rtlCol="0" anchor="ctr"/>
          <a:lstStyle/>
          <a:p>
            <a:pPr algn="ctr" indent="0" marL="0">
              <a:buNone/>
            </a:pPr>
            <a:r>
              <a:rPr lang="en-US" sz="800" b="1" dirty="0">
                <a:solidFill>
                  <a:srgbClr val="1E293B"/>
                </a:solidFill>
                <a:latin typeface="Calibri" pitchFamily="34" charset="0"/>
                <a:ea typeface="Calibri" pitchFamily="34" charset="-122"/>
                <a:cs typeface="Calibri" pitchFamily="34" charset="-120"/>
              </a:rPr>
              <a:t>create_purchase_order</a:t>
            </a:r>
            <a:endParaRPr lang="en-US" sz="800" dirty="0"/>
          </a:p>
        </p:txBody>
      </p:sp>
      <p:sp>
        <p:nvSpPr>
          <p:cNvPr id="103" name="Shape 101"/>
          <p:cNvSpPr/>
          <p:nvPr/>
        </p:nvSpPr>
        <p:spPr>
          <a:xfrm>
            <a:off x="10058400" y="4754880"/>
            <a:ext cx="1920240" cy="301752"/>
          </a:xfrm>
          <a:prstGeom prst="roundRect">
            <a:avLst>
              <a:gd name="adj" fmla="val 18182"/>
            </a:avLst>
          </a:prstGeom>
          <a:solidFill>
            <a:srgbClr val="FFFFFF"/>
          </a:solidFill>
          <a:ln w="12700">
            <a:solidFill>
              <a:srgbClr val="93A8D8"/>
            </a:solidFill>
            <a:prstDash val="solid"/>
          </a:ln>
        </p:spPr>
      </p:sp>
      <p:sp>
        <p:nvSpPr>
          <p:cNvPr id="104" name="Text 102"/>
          <p:cNvSpPr txBox="1"/>
          <p:nvPr/>
        </p:nvSpPr>
        <p:spPr>
          <a:xfrm>
            <a:off x="10104120" y="4791456"/>
            <a:ext cx="1828800" cy="228600"/>
          </a:xfrm>
          <a:prstGeom prst="rect">
            <a:avLst/>
          </a:prstGeom>
          <a:noFill/>
          <a:ln/>
        </p:spPr>
        <p:txBody>
          <a:bodyPr wrap="square" lIns="25400" tIns="25400" rIns="25400" bIns="25400" rtlCol="0" anchor="ctr"/>
          <a:lstStyle/>
          <a:p>
            <a:pPr algn="ctr" indent="0" marL="0">
              <a:buNone/>
            </a:pPr>
            <a:r>
              <a:rPr lang="en-US" sz="800" b="1" dirty="0">
                <a:solidFill>
                  <a:srgbClr val="1E293B"/>
                </a:solidFill>
                <a:latin typeface="Calibri" pitchFamily="34" charset="0"/>
                <a:ea typeface="Calibri" pitchFamily="34" charset="-122"/>
                <a:cs typeface="Calibri" pitchFamily="34" charset="-120"/>
              </a:rPr>
              <a:t>create_depot_transfer</a:t>
            </a:r>
            <a:endParaRPr lang="en-US" sz="800" dirty="0"/>
          </a:p>
        </p:txBody>
      </p:sp>
      <p:sp>
        <p:nvSpPr>
          <p:cNvPr id="105" name="Shape 103"/>
          <p:cNvSpPr/>
          <p:nvPr/>
        </p:nvSpPr>
        <p:spPr>
          <a:xfrm>
            <a:off x="10058400" y="5093208"/>
            <a:ext cx="1920240" cy="301752"/>
          </a:xfrm>
          <a:prstGeom prst="roundRect">
            <a:avLst>
              <a:gd name="adj" fmla="val 18182"/>
            </a:avLst>
          </a:prstGeom>
          <a:solidFill>
            <a:srgbClr val="FFFFFF"/>
          </a:solidFill>
          <a:ln w="12700">
            <a:solidFill>
              <a:srgbClr val="93A8D8"/>
            </a:solidFill>
            <a:prstDash val="solid"/>
          </a:ln>
        </p:spPr>
      </p:sp>
      <p:sp>
        <p:nvSpPr>
          <p:cNvPr id="106" name="Text 104"/>
          <p:cNvSpPr txBox="1"/>
          <p:nvPr/>
        </p:nvSpPr>
        <p:spPr>
          <a:xfrm>
            <a:off x="10104120" y="5129784"/>
            <a:ext cx="1828800" cy="228600"/>
          </a:xfrm>
          <a:prstGeom prst="rect">
            <a:avLst/>
          </a:prstGeom>
          <a:noFill/>
          <a:ln/>
        </p:spPr>
        <p:txBody>
          <a:bodyPr wrap="square" lIns="25400" tIns="25400" rIns="25400" bIns="25400" rtlCol="0" anchor="ctr"/>
          <a:lstStyle/>
          <a:p>
            <a:pPr algn="ctr" indent="0" marL="0">
              <a:buNone/>
            </a:pPr>
            <a:r>
              <a:rPr lang="en-US" sz="750" b="1" dirty="0">
                <a:solidFill>
                  <a:srgbClr val="1E293B"/>
                </a:solidFill>
                <a:latin typeface="Calibri" pitchFamily="34" charset="0"/>
                <a:ea typeface="Calibri" pitchFamily="34" charset="-122"/>
                <a:cs typeface="Calibri" pitchFamily="34" charset="-120"/>
              </a:rPr>
              <a:t>request_approval (Approve / Reject)</a:t>
            </a:r>
            <a:endParaRPr lang="en-US" sz="750" dirty="0"/>
          </a:p>
        </p:txBody>
      </p:sp>
      <p:sp>
        <p:nvSpPr>
          <p:cNvPr id="107" name="Shape 105"/>
          <p:cNvSpPr/>
          <p:nvPr/>
        </p:nvSpPr>
        <p:spPr>
          <a:xfrm>
            <a:off x="10058400" y="5431536"/>
            <a:ext cx="1920240" cy="274320"/>
          </a:xfrm>
          <a:prstGeom prst="roundRect">
            <a:avLst>
              <a:gd name="adj" fmla="val 20000"/>
            </a:avLst>
          </a:prstGeom>
          <a:solidFill>
            <a:srgbClr val="FFFFFF"/>
          </a:solidFill>
          <a:ln w="12700">
            <a:solidFill>
              <a:srgbClr val="93A8D8"/>
            </a:solidFill>
            <a:prstDash val="solid"/>
          </a:ln>
        </p:spPr>
      </p:sp>
      <p:sp>
        <p:nvSpPr>
          <p:cNvPr id="108" name="Text 106"/>
          <p:cNvSpPr txBox="1"/>
          <p:nvPr/>
        </p:nvSpPr>
        <p:spPr>
          <a:xfrm>
            <a:off x="10104120" y="5468112"/>
            <a:ext cx="1828800" cy="201168"/>
          </a:xfrm>
          <a:prstGeom prst="rect">
            <a:avLst/>
          </a:prstGeom>
          <a:noFill/>
          <a:ln/>
        </p:spPr>
        <p:txBody>
          <a:bodyPr wrap="square" lIns="25400" tIns="25400" rIns="25400" bIns="25400" rtlCol="0" anchor="ctr"/>
          <a:lstStyle/>
          <a:p>
            <a:pPr algn="ctr" indent="0" marL="0">
              <a:buNone/>
            </a:pPr>
            <a:r>
              <a:rPr lang="en-US" sz="750" b="1" dirty="0">
                <a:solidFill>
                  <a:srgbClr val="1E293B"/>
                </a:solidFill>
                <a:latin typeface="Calibri" pitchFamily="34" charset="0"/>
                <a:ea typeface="Calibri" pitchFamily="34" charset="-122"/>
                <a:cs typeface="Calibri" pitchFamily="34" charset="-120"/>
              </a:rPr>
              <a:t>send_launch_update</a:t>
            </a:r>
            <a:endParaRPr lang="en-US" sz="750" dirty="0"/>
          </a:p>
        </p:txBody>
      </p:sp>
      <p:sp>
        <p:nvSpPr>
          <p:cNvPr id="109" name="Shape 107"/>
          <p:cNvSpPr/>
          <p:nvPr/>
        </p:nvSpPr>
        <p:spPr>
          <a:xfrm>
            <a:off x="9966960" y="5852160"/>
            <a:ext cx="2103120" cy="457200"/>
          </a:xfrm>
          <a:prstGeom prst="rect">
            <a:avLst/>
          </a:prstGeom>
          <a:solidFill>
            <a:srgbClr val="EFF4FF"/>
          </a:solidFill>
          <a:ln w="12700">
            <a:solidFill>
              <a:srgbClr val="93A8D8"/>
            </a:solidFill>
            <a:prstDash val="solid"/>
          </a:ln>
        </p:spPr>
      </p:sp>
      <p:sp>
        <p:nvSpPr>
          <p:cNvPr id="110" name="Text 108"/>
          <p:cNvSpPr txBox="1"/>
          <p:nvPr/>
        </p:nvSpPr>
        <p:spPr>
          <a:xfrm>
            <a:off x="10012680" y="5870448"/>
            <a:ext cx="2011680" cy="420624"/>
          </a:xfrm>
          <a:prstGeom prst="rect">
            <a:avLst/>
          </a:prstGeom>
          <a:noFill/>
          <a:ln/>
        </p:spPr>
        <p:txBody>
          <a:bodyPr wrap="square" lIns="25400" tIns="25400" rIns="25400" bIns="25400" rtlCol="0" anchor="ctr"/>
          <a:lstStyle/>
          <a:p>
            <a:pPr algn="ctr" indent="0" marL="0">
              <a:buNone/>
            </a:pPr>
            <a:r>
              <a:rPr lang="en-US" sz="850" b="1" dirty="0">
                <a:solidFill>
                  <a:srgbClr val="1F3A8A"/>
                </a:solidFill>
                <a:latin typeface="Calibri" pitchFamily="34" charset="0"/>
                <a:ea typeface="Calibri" pitchFamily="34" charset="-122"/>
                <a:cs typeface="Calibri" pitchFamily="34" charset="-120"/>
              </a:rPr>
              <a:t>Gemini  |  ADK 2.x</a:t>
            </a:r>
            <a:endParaRPr lang="en-US" sz="850" dirty="0"/>
          </a:p>
        </p:txBody>
      </p:sp>
      <p:sp>
        <p:nvSpPr>
          <p:cNvPr id="111" name="Shape 109"/>
          <p:cNvSpPr/>
          <p:nvPr/>
        </p:nvSpPr>
        <p:spPr>
          <a:xfrm>
            <a:off x="9829800" y="2377440"/>
            <a:ext cx="137160" cy="0"/>
          </a:xfrm>
          <a:prstGeom prst="line">
            <a:avLst/>
          </a:prstGeom>
          <a:noFill/>
          <a:ln w="19050">
            <a:solidFill>
              <a:srgbClr val="2563EB"/>
            </a:solidFill>
            <a:prstDash val="solid"/>
            <a:headEnd type="triangle"/>
            <a:tailEnd type="triangle"/>
          </a:ln>
        </p:spPr>
      </p:sp>
      <p:sp>
        <p:nvSpPr>
          <p:cNvPr id="112" name="Shape 110"/>
          <p:cNvSpPr/>
          <p:nvPr/>
        </p:nvSpPr>
        <p:spPr>
          <a:xfrm>
            <a:off x="9829800" y="4754880"/>
            <a:ext cx="137160" cy="0"/>
          </a:xfrm>
          <a:prstGeom prst="line">
            <a:avLst/>
          </a:prstGeom>
          <a:noFill/>
          <a:ln w="19050">
            <a:solidFill>
              <a:srgbClr val="2563EB"/>
            </a:solidFill>
            <a:prstDash val="solid"/>
            <a:headEnd type="triangle"/>
            <a:tailEnd type="triangle"/>
          </a:ln>
        </p:spPr>
      </p:sp>
      <p:sp>
        <p:nvSpPr>
          <p:cNvPr id="113" name="Text 111"/>
          <p:cNvSpPr txBox="1"/>
          <p:nvPr/>
        </p:nvSpPr>
        <p:spPr>
          <a:xfrm>
            <a:off x="457200" y="6355080"/>
            <a:ext cx="4572000" cy="274320"/>
          </a:xfrm>
          <a:prstGeom prst="rect">
            <a:avLst/>
          </a:prstGeom>
          <a:noFill/>
          <a:ln/>
        </p:spPr>
        <p:txBody>
          <a:bodyPr wrap="square" lIns="25400" tIns="25400" rIns="25400" bIns="25400" rtlCol="0" anchor="ctr"/>
          <a:lstStyle/>
          <a:p>
            <a:pPr algn="l" indent="0" marL="0">
              <a:buNone/>
            </a:pPr>
            <a:r>
              <a:rPr lang="en-US" sz="900" dirty="0">
                <a:solidFill>
                  <a:srgbClr val="64748B"/>
                </a:solidFill>
                <a:latin typeface="Calibri" pitchFamily="34" charset="0"/>
                <a:ea typeface="Calibri" pitchFamily="34" charset="-122"/>
                <a:cs typeface="Calibri" pitchFamily="34" charset="-120"/>
              </a:rPr>
              <a:t>HCLTech  |  Confidential</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Slides>
  <Notes>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vt:i4>
      </vt:variant>
    </vt:vector>
  </HeadingPairs>
  <TitlesOfParts>
    <vt:vector size="6" baseType="lpstr">
      <vt:lpstr>Arial</vt:lpstr>
      <vt:lpstr>Calibri</vt:lpstr>
      <vt:lpstr>Office Theme</vt:lpstr>
      <vt:lpstr>Slide 1</vt:lpstr>
      <vt:lpstr>Slide 2</vt:lpstr>
      <vt:lpstr>Slide 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The LaunchKit Provisioner</dc:title>
  <dc:subject>PptxGenJS Presentation</dc:subject>
  <dc:creator>PptxGenJS</dc:creator>
  <cp:lastModifiedBy>PptxGenJS</cp:lastModifiedBy>
  <cp:revision>1</cp:revision>
  <dcterms:created xsi:type="dcterms:W3CDTF">2026-10-12T17:34:17Z</dcterms:created>
  <dcterms:modified xsi:type="dcterms:W3CDTF">2026-10-12T17:34:17Z</dcterms:modified>
</cp:coreProperties>
</file>